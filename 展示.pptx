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7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FB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7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们的项目——“基于病例数据库的私人定制医学方案”。这是一个旨在为用户提供精准、个性化健康指导的服务项目。我们希望通过这个项目，解决当前健康管理领域信息杂乱、服务不精准的痛点。接下来，我将详细介绍我们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八个部分。首先，我会对项目进行整体概述。接着，分析我们所针对的问题和应用场景。然后，详细介绍我们的解决方案和如何满足多方需求。之后是技术路线图、可行性与风险分析。最后，介绍我们的团队、预期成果以及对未来的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概述。我们的项目主要面向两类人群：时间宝贵的高净值人群和需要持续健康关怀的老年群体。我们聚焦于日常健康管理、慢病干预和急症预警这三个核心场景。针对当前市场上健康信息杂乱、服务不精准的痛点，我们提出了一个创新的解决方案：利用真实的病例数据库，结合AI技术和本地医疗资源，为用户提供私人定制的医学指导服务。我们的核心目标是提升方案的匹配准确度、响应效率和用户的依从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深入分析一下问题和具体场景。我们的目标用户主要是两类人：一类是工作压力大、时间宝贵的高净值人群，他们需要高效的健康管理方案；另一类是慢病缠身、行动不便的老年人，他们需要持续的健康陪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针对这两类人群，我们设定了两个核心场景：为成年人提供体检后的个性化干预，为老年人提供居家慢病管理。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然而，当前市场存在明显痛点：成年人觉得信息不可信、方案难落地；老年人则面临操作难、服务远的问题。市场上要么是过于轻量的普惠工具，要么是不对个人开放的专业系统，这正是我们项目的机会所在。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以上痛点，我们的解决方案核心是“病例库+AI+本地资源”三位一体的模式。首先，我们建立了一个真实的脱敏病例数据库，这是我们方案科学性和可信度的基础。其次，我们利用AI技术进行智能匹配，能够快速为用户找到相似的病例和个性化的指导方案。最后，我们与本地的医疗资源进行联动，为用户提供便捷的线下服务，形成一个完整的服务闭环。通过这个模式，我们能够将方案的匹配准确率提升到病例级别，响应时间缩短到分钟级，从而大大提高用户的方案执行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方案充分考虑了各方需求。首先是使用方，也就是我们的终端用户。我们深知用户体验的重要性，因此在界面设计上，我们提供了成人和老年人两种模式，确保操作的便捷性。我们还内置了真实的病例示范，让用户可以直观地看到与自己情况相似的案例，从而增强对方案的信任。最终输出的方案也力求通俗易懂、图文并茂，让用户能够轻松理解并执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集成方，我们关注的是系统的性能和稳定性。我们通过优化病例库索引和轻量化AI模型，确保系统响应时间控制在3秒以内，匹配准确率不低于85%。我们设计的逻辑是可追溯的，从用户输入到方案输出，每一步都有迹可循。同时，我们还建立了高并发缓存和错误重试机制，以应对各种突发情况，保障系统的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运维方，我们提供了强大的后台支持。数据看板可以实时监控关键运营指标，为决策提供数据支持。我们通过公示病例来源、展示合规声明等方式，积极建设用户信任。同时，我们建立了高效的反馈机制，确保用户的投诉和建议能在24小时内得到响应和处理。此外，后台还支持针对性的运营宣传，如向老年人推送季节性疾病预防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也充分考虑了合规方和预算方的需求。对于合规方，我们明确了“仅指导不诊疗”的边界，并采取了严格的隐私保护和风控措施，确保项目合法合规。对于预算方，我们的项目采用轻资产模式，投入高效，风险可控。我们瞄准的是高净值人群和银发经济这两个高价值市场，具备清晰的盈利模式和广阔的市场前景，能够实现高效的资本落地和产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技术路线图。整个流程从用户输入开始，经过关键的AI处理，最终输出个性化的健康方案和数据报表，并通过严格的测试验证。我们将整个开发过程划分为四个里程碑，确保项目在8周的课程周期内有序推进，最终交付一个高质量的MVP版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从四个维度对项目的可行性进行了分析。技术上，我们采用成熟的开源框架，开发难度可控。资源上，我们可以利用公开数据集启动项目，并已初步对接了本地医疗资源。进度上，我们制定了详细的里程碑计划，确保项目按时完成。合规上，我们严格遵守法律法规，明确服务边界，确保项目安全合规。总体来看，项目具备较高的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当然，项目也存在一些风险。我们识别了三个主要风险：技术风险、资源风险和合规风险。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针对技术风险，我们准备通过扩充数据和优化算法来提升准确率。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针对资源风险，我们准备了备选合作方案。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针对合规风险，我们采取了严格的风控措施，确保项目合法运营。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我们对这些风险都有充分的认识和应对预案。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我的汇报到此结束，感谢大家的聆听。我们相信，通过我们的努力，能够让精准的健康指导真正触手可及，为用户带来切实的价值。谢谢大家！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5" Type="http://schemas.openxmlformats.org/officeDocument/2006/relationships/notesSlide" Target="../notesSlides/notesSlide2.xml"/><Relationship Id="rId34" Type="http://schemas.openxmlformats.org/officeDocument/2006/relationships/slideLayout" Target="../slideLayouts/slideLayout12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9" Type="http://schemas.openxmlformats.org/officeDocument/2006/relationships/notesSlide" Target="../notesSlides/notesSlide3.xml"/><Relationship Id="rId38" Type="http://schemas.openxmlformats.org/officeDocument/2006/relationships/slideLayout" Target="../slideLayouts/slideLayout12.xml"/><Relationship Id="rId37" Type="http://schemas.openxmlformats.org/officeDocument/2006/relationships/image" Target="../media/image12.svg"/><Relationship Id="rId36" Type="http://schemas.openxmlformats.org/officeDocument/2006/relationships/image" Target="../media/image11.png"/><Relationship Id="rId35" Type="http://schemas.openxmlformats.org/officeDocument/2006/relationships/tags" Target="../tags/tag58.xml"/><Relationship Id="rId34" Type="http://schemas.openxmlformats.org/officeDocument/2006/relationships/tags" Target="../tags/tag57.xml"/><Relationship Id="rId33" Type="http://schemas.openxmlformats.org/officeDocument/2006/relationships/image" Target="../media/image10.svg"/><Relationship Id="rId32" Type="http://schemas.openxmlformats.org/officeDocument/2006/relationships/image" Target="../media/image9.png"/><Relationship Id="rId31" Type="http://schemas.openxmlformats.org/officeDocument/2006/relationships/tags" Target="../tags/tag56.xml"/><Relationship Id="rId30" Type="http://schemas.openxmlformats.org/officeDocument/2006/relationships/tags" Target="../tags/tag55.xml"/><Relationship Id="rId3" Type="http://schemas.openxmlformats.org/officeDocument/2006/relationships/tags" Target="../tags/tag36.xml"/><Relationship Id="rId29" Type="http://schemas.openxmlformats.org/officeDocument/2006/relationships/tags" Target="../tags/tag54.xml"/><Relationship Id="rId28" Type="http://schemas.openxmlformats.org/officeDocument/2006/relationships/tags" Target="../tags/tag53.xml"/><Relationship Id="rId27" Type="http://schemas.openxmlformats.org/officeDocument/2006/relationships/tags" Target="../tags/tag52.xml"/><Relationship Id="rId26" Type="http://schemas.openxmlformats.org/officeDocument/2006/relationships/image" Target="../media/image8.svg"/><Relationship Id="rId25" Type="http://schemas.openxmlformats.org/officeDocument/2006/relationships/image" Target="../media/image7.png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35.xml"/><Relationship Id="rId19" Type="http://schemas.openxmlformats.org/officeDocument/2006/relationships/image" Target="../media/image6.svg"/><Relationship Id="rId18" Type="http://schemas.openxmlformats.org/officeDocument/2006/relationships/image" Target="../media/image5.png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tags" Target="../tags/tag41.xml"/><Relationship Id="rId1" Type="http://schemas.openxmlformats.org/officeDocument/2006/relationships/tags" Target="../tags/tag3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tags" Target="../tags/tag64.xml"/><Relationship Id="rId55" Type="http://schemas.openxmlformats.org/officeDocument/2006/relationships/notesSlide" Target="../notesSlides/notesSlide4.xml"/><Relationship Id="rId54" Type="http://schemas.openxmlformats.org/officeDocument/2006/relationships/slideLayout" Target="../slideLayouts/slideLayout12.xml"/><Relationship Id="rId53" Type="http://schemas.openxmlformats.org/officeDocument/2006/relationships/tags" Target="../tags/tag95.xml"/><Relationship Id="rId52" Type="http://schemas.openxmlformats.org/officeDocument/2006/relationships/image" Target="../media/image28.svg"/><Relationship Id="rId51" Type="http://schemas.openxmlformats.org/officeDocument/2006/relationships/image" Target="../media/image27.png"/><Relationship Id="rId50" Type="http://schemas.openxmlformats.org/officeDocument/2006/relationships/tags" Target="../tags/tag94.xml"/><Relationship Id="rId5" Type="http://schemas.openxmlformats.org/officeDocument/2006/relationships/tags" Target="../tags/tag63.xml"/><Relationship Id="rId49" Type="http://schemas.openxmlformats.org/officeDocument/2006/relationships/tags" Target="../tags/tag93.xml"/><Relationship Id="rId48" Type="http://schemas.openxmlformats.org/officeDocument/2006/relationships/tags" Target="../tags/tag92.xml"/><Relationship Id="rId47" Type="http://schemas.openxmlformats.org/officeDocument/2006/relationships/image" Target="../media/image26.svg"/><Relationship Id="rId46" Type="http://schemas.openxmlformats.org/officeDocument/2006/relationships/image" Target="../media/image25.png"/><Relationship Id="rId45" Type="http://schemas.openxmlformats.org/officeDocument/2006/relationships/tags" Target="../tags/tag91.xml"/><Relationship Id="rId44" Type="http://schemas.openxmlformats.org/officeDocument/2006/relationships/tags" Target="../tags/tag90.xml"/><Relationship Id="rId43" Type="http://schemas.openxmlformats.org/officeDocument/2006/relationships/tags" Target="../tags/tag89.xml"/><Relationship Id="rId42" Type="http://schemas.openxmlformats.org/officeDocument/2006/relationships/tags" Target="../tags/tag88.xml"/><Relationship Id="rId41" Type="http://schemas.openxmlformats.org/officeDocument/2006/relationships/tags" Target="../tags/tag87.xml"/><Relationship Id="rId40" Type="http://schemas.openxmlformats.org/officeDocument/2006/relationships/tags" Target="../tags/tag86.xml"/><Relationship Id="rId4" Type="http://schemas.openxmlformats.org/officeDocument/2006/relationships/tags" Target="../tags/tag62.xml"/><Relationship Id="rId39" Type="http://schemas.openxmlformats.org/officeDocument/2006/relationships/image" Target="../media/image24.svg"/><Relationship Id="rId38" Type="http://schemas.openxmlformats.org/officeDocument/2006/relationships/image" Target="../media/image23.png"/><Relationship Id="rId37" Type="http://schemas.openxmlformats.org/officeDocument/2006/relationships/tags" Target="../tags/tag85.xml"/><Relationship Id="rId36" Type="http://schemas.openxmlformats.org/officeDocument/2006/relationships/tags" Target="../tags/tag84.xml"/><Relationship Id="rId35" Type="http://schemas.openxmlformats.org/officeDocument/2006/relationships/tags" Target="../tags/tag83.xml"/><Relationship Id="rId34" Type="http://schemas.openxmlformats.org/officeDocument/2006/relationships/image" Target="../media/image22.svg"/><Relationship Id="rId33" Type="http://schemas.openxmlformats.org/officeDocument/2006/relationships/image" Target="../media/image21.png"/><Relationship Id="rId32" Type="http://schemas.openxmlformats.org/officeDocument/2006/relationships/tags" Target="../tags/tag82.xml"/><Relationship Id="rId31" Type="http://schemas.openxmlformats.org/officeDocument/2006/relationships/tags" Target="../tags/tag81.xml"/><Relationship Id="rId30" Type="http://schemas.openxmlformats.org/officeDocument/2006/relationships/tags" Target="../tags/tag80.xml"/><Relationship Id="rId3" Type="http://schemas.openxmlformats.org/officeDocument/2006/relationships/tags" Target="../tags/tag61.xml"/><Relationship Id="rId29" Type="http://schemas.openxmlformats.org/officeDocument/2006/relationships/tags" Target="../tags/tag79.xml"/><Relationship Id="rId28" Type="http://schemas.openxmlformats.org/officeDocument/2006/relationships/tags" Target="../tags/tag78.xml"/><Relationship Id="rId27" Type="http://schemas.openxmlformats.org/officeDocument/2006/relationships/tags" Target="../tags/tag77.xml"/><Relationship Id="rId26" Type="http://schemas.openxmlformats.org/officeDocument/2006/relationships/image" Target="../media/image20.svg"/><Relationship Id="rId25" Type="http://schemas.openxmlformats.org/officeDocument/2006/relationships/image" Target="../media/image19.png"/><Relationship Id="rId24" Type="http://schemas.openxmlformats.org/officeDocument/2006/relationships/tags" Target="../tags/tag76.xml"/><Relationship Id="rId23" Type="http://schemas.openxmlformats.org/officeDocument/2006/relationships/tags" Target="../tags/tag75.xml"/><Relationship Id="rId22" Type="http://schemas.openxmlformats.org/officeDocument/2006/relationships/tags" Target="../tags/tag74.xml"/><Relationship Id="rId21" Type="http://schemas.openxmlformats.org/officeDocument/2006/relationships/image" Target="../media/image18.svg"/><Relationship Id="rId20" Type="http://schemas.openxmlformats.org/officeDocument/2006/relationships/image" Target="../media/image17.png"/><Relationship Id="rId2" Type="http://schemas.openxmlformats.org/officeDocument/2006/relationships/tags" Target="../tags/tag60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tags" Target="../tags/tag98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7.xml"/><Relationship Id="rId19" Type="http://schemas.openxmlformats.org/officeDocument/2006/relationships/image" Target="../media/image34.svg"/><Relationship Id="rId18" Type="http://schemas.openxmlformats.org/officeDocument/2006/relationships/image" Target="../media/image33.png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tags" Target="../tags/tag103.xml"/><Relationship Id="rId1" Type="http://schemas.openxmlformats.org/officeDocument/2006/relationships/tags" Target="../tags/tag9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image" Target="../media/image46.svg"/><Relationship Id="rId30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130.xml"/><Relationship Id="rId27" Type="http://schemas.openxmlformats.org/officeDocument/2006/relationships/tags" Target="../tags/tag129.xml"/><Relationship Id="rId26" Type="http://schemas.openxmlformats.org/officeDocument/2006/relationships/tags" Target="../tags/tag128.xml"/><Relationship Id="rId25" Type="http://schemas.openxmlformats.org/officeDocument/2006/relationships/image" Target="../media/image52.svg"/><Relationship Id="rId24" Type="http://schemas.openxmlformats.org/officeDocument/2006/relationships/image" Target="../media/image51.png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12.xml"/><Relationship Id="rId19" Type="http://schemas.openxmlformats.org/officeDocument/2006/relationships/tags" Target="../tags/tag123.xml"/><Relationship Id="rId18" Type="http://schemas.openxmlformats.org/officeDocument/2006/relationships/image" Target="../media/image50.svg"/><Relationship Id="rId17" Type="http://schemas.openxmlformats.org/officeDocument/2006/relationships/image" Target="../media/image49.png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image" Target="../media/image48.svg"/><Relationship Id="rId10" Type="http://schemas.openxmlformats.org/officeDocument/2006/relationships/image" Target="../media/image47.png"/><Relationship Id="rId1" Type="http://schemas.openxmlformats.org/officeDocument/2006/relationships/tags" Target="../tags/tag11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svg"/><Relationship Id="rId7" Type="http://schemas.openxmlformats.org/officeDocument/2006/relationships/image" Target="../media/image59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4.svg"/><Relationship Id="rId11" Type="http://schemas.openxmlformats.org/officeDocument/2006/relationships/image" Target="../media/image63.png"/><Relationship Id="rId10" Type="http://schemas.openxmlformats.org/officeDocument/2006/relationships/image" Target="../media/image62.svg"/><Relationship Id="rId1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image" Target="../media/image66.svg"/><Relationship Id="rId6" Type="http://schemas.openxmlformats.org/officeDocument/2006/relationships/image" Target="../media/image65.png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2" Type="http://schemas.openxmlformats.org/officeDocument/2006/relationships/notesSlide" Target="../notesSlides/notesSlide10.xml"/><Relationship Id="rId31" Type="http://schemas.openxmlformats.org/officeDocument/2006/relationships/slideLayout" Target="../slideLayouts/slideLayout12.xml"/><Relationship Id="rId30" Type="http://schemas.openxmlformats.org/officeDocument/2006/relationships/tags" Target="../tags/tag158.xml"/><Relationship Id="rId3" Type="http://schemas.openxmlformats.org/officeDocument/2006/relationships/tags" Target="../tags/tag133.xml"/><Relationship Id="rId29" Type="http://schemas.openxmlformats.org/officeDocument/2006/relationships/tags" Target="../tags/tag157.xml"/><Relationship Id="rId28" Type="http://schemas.openxmlformats.org/officeDocument/2006/relationships/tags" Target="../tags/tag156.xml"/><Relationship Id="rId27" Type="http://schemas.openxmlformats.org/officeDocument/2006/relationships/tags" Target="../tags/tag155.xml"/><Relationship Id="rId26" Type="http://schemas.openxmlformats.org/officeDocument/2006/relationships/tags" Target="../tags/tag154.xml"/><Relationship Id="rId25" Type="http://schemas.openxmlformats.org/officeDocument/2006/relationships/tags" Target="../tags/tag153.xml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tags" Target="../tags/tag150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tags" Target="../tags/tag132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8" Type="http://schemas.openxmlformats.org/officeDocument/2006/relationships/notesSlide" Target="../notesSlides/notesSlide11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186.xml"/><Relationship Id="rId35" Type="http://schemas.openxmlformats.org/officeDocument/2006/relationships/tags" Target="../tags/tag185.xml"/><Relationship Id="rId34" Type="http://schemas.openxmlformats.org/officeDocument/2006/relationships/tags" Target="../tags/tag184.xml"/><Relationship Id="rId33" Type="http://schemas.openxmlformats.org/officeDocument/2006/relationships/tags" Target="../tags/tag183.xml"/><Relationship Id="rId32" Type="http://schemas.openxmlformats.org/officeDocument/2006/relationships/image" Target="../media/image74.svg"/><Relationship Id="rId31" Type="http://schemas.openxmlformats.org/officeDocument/2006/relationships/image" Target="../media/image73.png"/><Relationship Id="rId30" Type="http://schemas.openxmlformats.org/officeDocument/2006/relationships/tags" Target="../tags/tag182.xml"/><Relationship Id="rId3" Type="http://schemas.openxmlformats.org/officeDocument/2006/relationships/tags" Target="../tags/tag161.xml"/><Relationship Id="rId29" Type="http://schemas.openxmlformats.org/officeDocument/2006/relationships/tags" Target="../tags/tag181.xml"/><Relationship Id="rId28" Type="http://schemas.openxmlformats.org/officeDocument/2006/relationships/tags" Target="../tags/tag180.xml"/><Relationship Id="rId27" Type="http://schemas.openxmlformats.org/officeDocument/2006/relationships/tags" Target="../tags/tag179.xml"/><Relationship Id="rId26" Type="http://schemas.openxmlformats.org/officeDocument/2006/relationships/tags" Target="../tags/tag178.xml"/><Relationship Id="rId25" Type="http://schemas.openxmlformats.org/officeDocument/2006/relationships/tags" Target="../tags/tag177.xml"/><Relationship Id="rId24" Type="http://schemas.openxmlformats.org/officeDocument/2006/relationships/tags" Target="../tags/tag176.xml"/><Relationship Id="rId23" Type="http://schemas.openxmlformats.org/officeDocument/2006/relationships/image" Target="../media/image72.svg"/><Relationship Id="rId22" Type="http://schemas.openxmlformats.org/officeDocument/2006/relationships/image" Target="../media/image71.png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tags" Target="../tags/tag160.xml"/><Relationship Id="rId19" Type="http://schemas.openxmlformats.org/officeDocument/2006/relationships/tags" Target="../tags/tag173.xml"/><Relationship Id="rId18" Type="http://schemas.openxmlformats.org/officeDocument/2006/relationships/tags" Target="../tags/tag172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image" Target="../media/image70.svg"/><Relationship Id="rId13" Type="http://schemas.openxmlformats.org/officeDocument/2006/relationships/image" Target="../media/image69.png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基于病例数据库的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私人定制医学</a:t>
            </a:r>
            <a:r>
              <a:rPr lang="zh-CN" altLang="en-US" sz="6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</a:t>
            </a:r>
            <a:endParaRPr lang="zh-CN" altLang="en-US" sz="60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指导型健康管家服务项目汇报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26000" y="4635500"/>
            <a:ext cx="2540000" cy="50800"/>
          </a:xfrm>
          <a:prstGeom prst="roundRect">
            <a:avLst>
              <a:gd name="adj" fmla="val 5000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143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第四组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651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白孟石 | 2026.04.16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1010920" y="2340610"/>
            <a:ext cx="2794000" cy="1879600"/>
            <a:chOff x="1075" y="2400"/>
            <a:chExt cx="4400" cy="2960"/>
          </a:xfrm>
        </p:grpSpPr>
        <p:sp>
          <p:nvSpPr>
            <p:cNvPr id="2" name="AutoShape 2"/>
            <p:cNvSpPr/>
            <p:nvPr/>
          </p:nvSpPr>
          <p:spPr>
            <a:xfrm>
              <a:off x="1075" y="2400"/>
              <a:ext cx="3257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6000" b="1" i="0" u="none" strike="noStrike">
                  <a:solidFill>
                    <a:srgbClr val="1E90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内容</a:t>
              </a:r>
              <a:endParaRPr lang="zh-CN" altLang="en-US" sz="60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" name="AutoShape 3"/>
            <p:cNvSpPr/>
            <p:nvPr/>
          </p:nvSpPr>
          <p:spPr>
            <a:xfrm>
              <a:off x="1075" y="4125"/>
              <a:ext cx="44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8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项目汇报目录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1075" y="5240"/>
              <a:ext cx="1600" cy="120"/>
            </a:xfrm>
            <a:prstGeom prst="roundRect">
              <a:avLst>
                <a:gd name="adj" fmla="val 50000"/>
              </a:avLst>
            </a:prstGeom>
            <a:solidFill>
              <a:srgbClr val="1E90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</p:grpSp>
      <p:grpSp>
        <p:nvGrpSpPr>
          <p:cNvPr id="48" name="组合 47"/>
          <p:cNvGrpSpPr/>
          <p:nvPr>
            <p:custDataLst>
              <p:tags r:id="rId1"/>
            </p:custDataLst>
          </p:nvPr>
        </p:nvGrpSpPr>
        <p:grpSpPr>
          <a:xfrm>
            <a:off x="4519930" y="1460500"/>
            <a:ext cx="6172200" cy="3937000"/>
            <a:chOff x="7118" y="1486"/>
            <a:chExt cx="9720" cy="6200"/>
          </a:xfrm>
        </p:grpSpPr>
        <p:sp>
          <p:nvSpPr>
            <p:cNvPr id="5" name="AutoShape 5"/>
            <p:cNvSpPr/>
            <p:nvPr>
              <p:custDataLst>
                <p:tags r:id="rId2"/>
              </p:custDataLst>
            </p:nvPr>
          </p:nvSpPr>
          <p:spPr>
            <a:xfrm>
              <a:off x="7118" y="1486"/>
              <a:ext cx="4600" cy="18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6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>
              <p:custDataLst>
                <p:tags r:id="rId3"/>
              </p:custDataLst>
            </p:nvPr>
          </p:nvSpPr>
          <p:spPr>
            <a:xfrm>
              <a:off x="7118" y="1486"/>
              <a:ext cx="120" cy="1800"/>
            </a:xfrm>
            <a:prstGeom prst="roundRect">
              <a:avLst>
                <a:gd name="adj" fmla="val 133333"/>
              </a:avLst>
            </a:prstGeom>
            <a:solidFill>
              <a:srgbClr val="1E90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>
              <p:custDataLst>
                <p:tags r:id="rId4"/>
              </p:custDataLst>
            </p:nvPr>
          </p:nvSpPr>
          <p:spPr>
            <a:xfrm>
              <a:off x="7518" y="1786"/>
              <a:ext cx="1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1E90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</a:t>
              </a:r>
              <a:endParaRPr lang="en-US" sz="1100"/>
            </a:p>
          </p:txBody>
        </p:sp>
        <p:sp>
          <p:nvSpPr>
            <p:cNvPr id="8" name="AutoShape 8"/>
            <p:cNvSpPr/>
            <p:nvPr>
              <p:custDataLst>
                <p:tags r:id="rId5"/>
              </p:custDataLst>
            </p:nvPr>
          </p:nvSpPr>
          <p:spPr>
            <a:xfrm>
              <a:off x="8918" y="1846"/>
              <a:ext cx="2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项目概述</a:t>
              </a:r>
              <a:endParaRPr lang="en-US" sz="1100"/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8918" y="2486"/>
              <a:ext cx="26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100" b="0" i="0" u="none" strike="noStrike">
                  <a:solidFill>
                    <a:srgbClr val="88888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Project Overview</a:t>
              </a:r>
              <a:endParaRPr lang="en-US" sz="1100"/>
            </a:p>
          </p:txBody>
        </p:sp>
        <p:sp>
          <p:nvSpPr>
            <p:cNvPr id="10" name="AutoShape 10"/>
            <p:cNvSpPr/>
            <p:nvPr>
              <p:custDataLst>
                <p:tags r:id="rId7"/>
              </p:custDataLst>
            </p:nvPr>
          </p:nvSpPr>
          <p:spPr>
            <a:xfrm>
              <a:off x="7118" y="3686"/>
              <a:ext cx="4600" cy="18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6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>
              <p:custDataLst>
                <p:tags r:id="rId8"/>
              </p:custDataLst>
            </p:nvPr>
          </p:nvSpPr>
          <p:spPr>
            <a:xfrm>
              <a:off x="7118" y="3686"/>
              <a:ext cx="120" cy="1800"/>
            </a:xfrm>
            <a:prstGeom prst="roundRect">
              <a:avLst>
                <a:gd name="adj" fmla="val 133333"/>
              </a:avLst>
            </a:prstGeom>
            <a:solidFill>
              <a:srgbClr val="1E90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>
              <p:custDataLst>
                <p:tags r:id="rId9"/>
              </p:custDataLst>
            </p:nvPr>
          </p:nvSpPr>
          <p:spPr>
            <a:xfrm>
              <a:off x="7518" y="3986"/>
              <a:ext cx="1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1E90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</a:t>
              </a:r>
              <a:endParaRPr lang="en-US" sz="1100"/>
            </a:p>
          </p:txBody>
        </p:sp>
        <p:sp>
          <p:nvSpPr>
            <p:cNvPr id="13" name="AutoShape 13"/>
            <p:cNvSpPr/>
            <p:nvPr>
              <p:custDataLst>
                <p:tags r:id="rId10"/>
              </p:custDataLst>
            </p:nvPr>
          </p:nvSpPr>
          <p:spPr>
            <a:xfrm>
              <a:off x="8918" y="4046"/>
              <a:ext cx="2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问题与场景</a:t>
              </a:r>
              <a:endParaRPr lang="en-US" sz="1100"/>
            </a:p>
          </p:txBody>
        </p:sp>
        <p:sp>
          <p:nvSpPr>
            <p:cNvPr id="14" name="AutoShape 14"/>
            <p:cNvSpPr/>
            <p:nvPr>
              <p:custDataLst>
                <p:tags r:id="rId11"/>
              </p:custDataLst>
            </p:nvPr>
          </p:nvSpPr>
          <p:spPr>
            <a:xfrm>
              <a:off x="8918" y="4686"/>
              <a:ext cx="26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100" b="0" i="0" u="none" strike="noStrike">
                  <a:solidFill>
                    <a:srgbClr val="88888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Problem &amp; Scenario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12"/>
              </p:custDataLst>
            </p:nvPr>
          </p:nvSpPr>
          <p:spPr>
            <a:xfrm>
              <a:off x="7118" y="5886"/>
              <a:ext cx="4600" cy="1800"/>
            </a:xfrm>
            <a:prstGeom prst="roundRect">
              <a:avLst>
                <a:gd name="adj" fmla="val 8888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6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>
              <p:custDataLst>
                <p:tags r:id="rId13"/>
              </p:custDataLst>
            </p:nvPr>
          </p:nvSpPr>
          <p:spPr>
            <a:xfrm>
              <a:off x="7118" y="5886"/>
              <a:ext cx="120" cy="1800"/>
            </a:xfrm>
            <a:prstGeom prst="roundRect">
              <a:avLst>
                <a:gd name="adj" fmla="val 133333"/>
              </a:avLst>
            </a:prstGeom>
            <a:solidFill>
              <a:srgbClr val="1E90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7" name="AutoShape 17"/>
            <p:cNvSpPr/>
            <p:nvPr>
              <p:custDataLst>
                <p:tags r:id="rId14"/>
              </p:custDataLst>
            </p:nvPr>
          </p:nvSpPr>
          <p:spPr>
            <a:xfrm>
              <a:off x="7518" y="6186"/>
              <a:ext cx="12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1E90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03</a:t>
              </a:r>
              <a:endParaRPr lang="en-US" sz="1100"/>
            </a:p>
          </p:txBody>
        </p:sp>
        <p:sp>
          <p:nvSpPr>
            <p:cNvPr id="18" name="AutoShape 18"/>
            <p:cNvSpPr/>
            <p:nvPr>
              <p:custDataLst>
                <p:tags r:id="rId15"/>
              </p:custDataLst>
            </p:nvPr>
          </p:nvSpPr>
          <p:spPr>
            <a:xfrm>
              <a:off x="8918" y="6246"/>
              <a:ext cx="2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5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解决方案</a:t>
              </a:r>
              <a:endParaRPr lang="en-US" sz="1100"/>
            </a:p>
          </p:txBody>
        </p:sp>
        <p:sp>
          <p:nvSpPr>
            <p:cNvPr id="19" name="AutoShape 19"/>
            <p:cNvSpPr/>
            <p:nvPr>
              <p:custDataLst>
                <p:tags r:id="rId16"/>
              </p:custDataLst>
            </p:nvPr>
          </p:nvSpPr>
          <p:spPr>
            <a:xfrm>
              <a:off x="8918" y="6886"/>
              <a:ext cx="26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100" b="0" i="0" u="none" strike="noStrike">
                  <a:solidFill>
                    <a:srgbClr val="888888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Solution</a:t>
              </a:r>
              <a:endParaRPr lang="en-US" sz="1100"/>
            </a:p>
          </p:txBody>
        </p:sp>
        <p:grpSp>
          <p:nvGrpSpPr>
            <p:cNvPr id="47" name="组合 46"/>
            <p:cNvGrpSpPr/>
            <p:nvPr>
              <p:custDataLst>
                <p:tags r:id="rId17"/>
              </p:custDataLst>
            </p:nvPr>
          </p:nvGrpSpPr>
          <p:grpSpPr>
            <a:xfrm>
              <a:off x="12238" y="1525"/>
              <a:ext cx="4600" cy="1761"/>
              <a:chOff x="7118" y="8086"/>
              <a:chExt cx="4600" cy="1600"/>
            </a:xfrm>
          </p:grpSpPr>
          <p:sp>
            <p:nvSpPr>
              <p:cNvPr id="20" name="AutoShape 20"/>
              <p:cNvSpPr/>
              <p:nvPr>
                <p:custDataLst>
                  <p:tags r:id="rId18"/>
                </p:custDataLst>
              </p:nvPr>
            </p:nvSpPr>
            <p:spPr>
              <a:xfrm>
                <a:off x="7118" y="8086"/>
                <a:ext cx="4600" cy="1600"/>
              </a:xfrm>
              <a:prstGeom prst="roundRect">
                <a:avLst>
                  <a:gd name="adj" fmla="val 1000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  <a:effectLst>
                <a:outerShdw blurRad="127000" dist="50800" dir="2700000" algn="tl" rotWithShape="0">
                  <a:srgbClr val="000000">
                    <a:alpha val="6000"/>
                  </a:srgbClr>
                </a:outerShdw>
              </a:effectLst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21" name="AutoShape 21"/>
              <p:cNvSpPr/>
              <p:nvPr>
                <p:custDataLst>
                  <p:tags r:id="rId19"/>
                </p:custDataLst>
              </p:nvPr>
            </p:nvSpPr>
            <p:spPr>
              <a:xfrm>
                <a:off x="7118" y="8086"/>
                <a:ext cx="120" cy="1600"/>
              </a:xfrm>
              <a:prstGeom prst="roundRect">
                <a:avLst>
                  <a:gd name="adj" fmla="val 133333"/>
                </a:avLst>
              </a:prstGeom>
              <a:solidFill>
                <a:srgbClr val="1E90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22" name="AutoShape 22"/>
              <p:cNvSpPr/>
              <p:nvPr>
                <p:custDataLst>
                  <p:tags r:id="rId20"/>
                </p:custDataLst>
              </p:nvPr>
            </p:nvSpPr>
            <p:spPr>
              <a:xfrm>
                <a:off x="7478" y="8264"/>
                <a:ext cx="1200" cy="1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ctr">
                  <a:lnSpc>
                    <a:spcPct val="125000"/>
                  </a:lnSpc>
                  <a:defRPr/>
                </a:pPr>
                <a:r>
                  <a:rPr lang="en-US" sz="3600" b="1" i="0" u="none" strike="noStrike">
                    <a:solidFill>
                      <a:srgbClr val="1E90FF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04</a:t>
                </a:r>
                <a:endParaRPr lang="en-US" sz="3600" b="1" i="0" u="none" strike="noStrike">
                  <a:solidFill>
                    <a:srgbClr val="1E90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sp>
            <p:nvSpPr>
              <p:cNvPr id="23" name="AutoShape 23"/>
              <p:cNvSpPr/>
              <p:nvPr>
                <p:custDataLst>
                  <p:tags r:id="rId21"/>
                </p:custDataLst>
              </p:nvPr>
            </p:nvSpPr>
            <p:spPr>
              <a:xfrm>
                <a:off x="8918" y="8422"/>
                <a:ext cx="2600" cy="5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400" b="1" i="0" u="none" strike="noStrike">
                    <a:solidFill>
                      <a:srgbClr val="33333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多方需求适配</a:t>
                </a:r>
                <a:endParaRPr lang="en-US" sz="1100"/>
              </a:p>
            </p:txBody>
          </p:sp>
          <p:sp>
            <p:nvSpPr>
              <p:cNvPr id="24" name="AutoShape 24"/>
              <p:cNvSpPr/>
              <p:nvPr>
                <p:custDataLst>
                  <p:tags r:id="rId22"/>
                </p:custDataLst>
              </p:nvPr>
            </p:nvSpPr>
            <p:spPr>
              <a:xfrm>
                <a:off x="8918" y="8958"/>
                <a:ext cx="2600" cy="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000" b="0" i="0" u="none" strike="noStrike">
                    <a:solidFill>
                      <a:srgbClr val="888888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Multi-Party Needs</a:t>
                </a:r>
                <a:endParaRPr lang="en-US" sz="1100"/>
              </a:p>
            </p:txBody>
          </p:sp>
        </p:grpSp>
        <p:grpSp>
          <p:nvGrpSpPr>
            <p:cNvPr id="46" name="组合 45"/>
            <p:cNvGrpSpPr/>
            <p:nvPr>
              <p:custDataLst>
                <p:tags r:id="rId23"/>
              </p:custDataLst>
            </p:nvPr>
          </p:nvGrpSpPr>
          <p:grpSpPr>
            <a:xfrm>
              <a:off x="12238" y="3686"/>
              <a:ext cx="4600" cy="4000"/>
              <a:chOff x="12118" y="1486"/>
              <a:chExt cx="4600" cy="4000"/>
            </a:xfrm>
          </p:grpSpPr>
          <p:sp>
            <p:nvSpPr>
              <p:cNvPr id="25" name="AutoShape 25"/>
              <p:cNvSpPr/>
              <p:nvPr>
                <p:custDataLst>
                  <p:tags r:id="rId24"/>
                </p:custDataLst>
              </p:nvPr>
            </p:nvSpPr>
            <p:spPr>
              <a:xfrm>
                <a:off x="12118" y="1486"/>
                <a:ext cx="4600" cy="1800"/>
              </a:xfrm>
              <a:prstGeom prst="roundRect">
                <a:avLst>
                  <a:gd name="adj" fmla="val 8888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  <a:effectLst>
                <a:outerShdw blurRad="127000" dist="50800" dir="2700000" algn="tl" rotWithShape="0">
                  <a:srgbClr val="000000">
                    <a:alpha val="6000"/>
                  </a:srgbClr>
                </a:outerShdw>
              </a:effectLst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26" name="AutoShape 26"/>
              <p:cNvSpPr/>
              <p:nvPr>
                <p:custDataLst>
                  <p:tags r:id="rId25"/>
                </p:custDataLst>
              </p:nvPr>
            </p:nvSpPr>
            <p:spPr>
              <a:xfrm>
                <a:off x="12118" y="1486"/>
                <a:ext cx="120" cy="1800"/>
              </a:xfrm>
              <a:prstGeom prst="roundRect">
                <a:avLst>
                  <a:gd name="adj" fmla="val 133333"/>
                </a:avLst>
              </a:prstGeom>
              <a:solidFill>
                <a:srgbClr val="1E90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27" name="AutoShape 27"/>
              <p:cNvSpPr/>
              <p:nvPr>
                <p:custDataLst>
                  <p:tags r:id="rId26"/>
                </p:custDataLst>
              </p:nvPr>
            </p:nvSpPr>
            <p:spPr>
              <a:xfrm>
                <a:off x="12518" y="1786"/>
                <a:ext cx="1200" cy="1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ctr">
                  <a:lnSpc>
                    <a:spcPct val="125000"/>
                  </a:lnSpc>
                  <a:defRPr/>
                </a:pPr>
                <a:r>
                  <a:rPr lang="en-US" sz="3600" b="1" i="0" u="none" strike="noStrike">
                    <a:solidFill>
                      <a:srgbClr val="1E90FF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05</a:t>
                </a:r>
                <a:endParaRPr lang="en-US" sz="1100"/>
              </a:p>
            </p:txBody>
          </p:sp>
          <p:sp>
            <p:nvSpPr>
              <p:cNvPr id="28" name="AutoShape 28"/>
              <p:cNvSpPr/>
              <p:nvPr>
                <p:custDataLst>
                  <p:tags r:id="rId27"/>
                </p:custDataLst>
              </p:nvPr>
            </p:nvSpPr>
            <p:spPr>
              <a:xfrm>
                <a:off x="13918" y="1846"/>
                <a:ext cx="2600" cy="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500" b="1" i="0" u="none" strike="noStrike">
                    <a:solidFill>
                      <a:srgbClr val="33333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技术路线图</a:t>
                </a:r>
                <a:endParaRPr lang="en-US" sz="1100"/>
              </a:p>
            </p:txBody>
          </p:sp>
          <p:sp>
            <p:nvSpPr>
              <p:cNvPr id="29" name="AutoShape 29"/>
              <p:cNvSpPr/>
              <p:nvPr>
                <p:custDataLst>
                  <p:tags r:id="rId28"/>
                </p:custDataLst>
              </p:nvPr>
            </p:nvSpPr>
            <p:spPr>
              <a:xfrm>
                <a:off x="13918" y="2486"/>
                <a:ext cx="2600" cy="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100" b="0" i="0" u="none" strike="noStrike">
                    <a:solidFill>
                      <a:srgbClr val="888888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Technical Roadmap</a:t>
                </a:r>
                <a:endParaRPr lang="en-US" sz="1100"/>
              </a:p>
            </p:txBody>
          </p:sp>
          <p:sp>
            <p:nvSpPr>
              <p:cNvPr id="30" name="AutoShape 30"/>
              <p:cNvSpPr/>
              <p:nvPr>
                <p:custDataLst>
                  <p:tags r:id="rId29"/>
                </p:custDataLst>
              </p:nvPr>
            </p:nvSpPr>
            <p:spPr>
              <a:xfrm>
                <a:off x="12118" y="3686"/>
                <a:ext cx="4600" cy="1800"/>
              </a:xfrm>
              <a:prstGeom prst="roundRect">
                <a:avLst>
                  <a:gd name="adj" fmla="val 8888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  <a:effectLst>
                <a:outerShdw blurRad="127000" dist="50800" dir="2700000" algn="tl" rotWithShape="0">
                  <a:srgbClr val="000000">
                    <a:alpha val="6000"/>
                  </a:srgbClr>
                </a:outerShdw>
              </a:effectLst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31" name="AutoShape 31"/>
              <p:cNvSpPr/>
              <p:nvPr>
                <p:custDataLst>
                  <p:tags r:id="rId30"/>
                </p:custDataLst>
              </p:nvPr>
            </p:nvSpPr>
            <p:spPr>
              <a:xfrm>
                <a:off x="12118" y="3686"/>
                <a:ext cx="120" cy="1800"/>
              </a:xfrm>
              <a:prstGeom prst="roundRect">
                <a:avLst>
                  <a:gd name="adj" fmla="val 133333"/>
                </a:avLst>
              </a:prstGeom>
              <a:solidFill>
                <a:srgbClr val="1E90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32" name="AutoShape 32"/>
              <p:cNvSpPr/>
              <p:nvPr>
                <p:custDataLst>
                  <p:tags r:id="rId31"/>
                </p:custDataLst>
              </p:nvPr>
            </p:nvSpPr>
            <p:spPr>
              <a:xfrm>
                <a:off x="12518" y="3986"/>
                <a:ext cx="1200" cy="1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ctr">
                  <a:lnSpc>
                    <a:spcPct val="125000"/>
                  </a:lnSpc>
                  <a:defRPr/>
                </a:pPr>
                <a:r>
                  <a:rPr lang="en-US" sz="3600" b="1" i="0" u="none" strike="noStrike">
                    <a:solidFill>
                      <a:srgbClr val="1E90FF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06</a:t>
                </a:r>
                <a:endParaRPr lang="en-US" sz="1100"/>
              </a:p>
            </p:txBody>
          </p:sp>
          <p:sp>
            <p:nvSpPr>
              <p:cNvPr id="33" name="AutoShape 33"/>
              <p:cNvSpPr/>
              <p:nvPr>
                <p:custDataLst>
                  <p:tags r:id="rId32"/>
                </p:custDataLst>
              </p:nvPr>
            </p:nvSpPr>
            <p:spPr>
              <a:xfrm>
                <a:off x="13918" y="4046"/>
                <a:ext cx="2600" cy="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500" b="1" i="0" u="none" strike="noStrike">
                    <a:solidFill>
                      <a:srgbClr val="33333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可行性与风险</a:t>
                </a:r>
                <a:endParaRPr lang="en-US" sz="1100"/>
              </a:p>
            </p:txBody>
          </p:sp>
          <p:sp>
            <p:nvSpPr>
              <p:cNvPr id="34" name="AutoShape 34"/>
              <p:cNvSpPr/>
              <p:nvPr>
                <p:custDataLst>
                  <p:tags r:id="rId33"/>
                </p:custDataLst>
              </p:nvPr>
            </p:nvSpPr>
            <p:spPr>
              <a:xfrm>
                <a:off x="13918" y="4686"/>
                <a:ext cx="2600" cy="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100" b="0" i="0" u="none" strike="noStrike">
                    <a:solidFill>
                      <a:srgbClr val="888888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Feasibility &amp; Risks</a:t>
                </a:r>
                <a:endParaRPr lang="en-US" sz="110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270000"/>
            <a:ext cx="482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952500" y="1473200"/>
            <a:ext cx="508000" cy="508000"/>
          </a:xfrm>
          <a:prstGeom prst="ellipse">
            <a:avLst/>
          </a:prstGeom>
          <a:solidFill>
            <a:srgbClr val="E6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100" y="15748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651000" y="1422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目标人群定位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651000" y="177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精准面向时间宝贵的高净值人群与需持续关怀的老年群体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762000" y="2311400"/>
            <a:ext cx="482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952500" y="2514600"/>
            <a:ext cx="508000" cy="508000"/>
          </a:xfrm>
          <a:prstGeom prst="ellipse">
            <a:avLst/>
          </a:prstGeom>
          <a:solidFill>
            <a:srgbClr val="E6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4100" y="2616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1651000" y="24638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核心业务场景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1651000" y="2819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聚焦日常健康管理、慢病长期干预与急症</a:t>
            </a:r>
            <a:r>
              <a:rPr lang="zh-CN" alt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762000" y="3352800"/>
            <a:ext cx="482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952500" y="3556000"/>
            <a:ext cx="508000" cy="508000"/>
          </a:xfrm>
          <a:prstGeom prst="ellipse">
            <a:avLst/>
          </a:prstGeom>
          <a:solidFill>
            <a:srgbClr val="E6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54100" y="3657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1651000" y="3505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行业痛点直击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1651000" y="38608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解决健康信息杂乱冗余、服务推送不精准、</a:t>
            </a:r>
            <a:r>
              <a:rPr lang="zh-CN" alt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病症复诊率高的</a:t>
            </a:r>
            <a:r>
              <a:rPr lang="zh-CN" alt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情况</a:t>
            </a:r>
            <a:endParaRPr lang="zh-CN" alt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762000" y="4394200"/>
            <a:ext cx="482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952500" y="4597400"/>
            <a:ext cx="508000" cy="508000"/>
          </a:xfrm>
          <a:prstGeom prst="ellipse">
            <a:avLst/>
          </a:prstGeom>
          <a:solidFill>
            <a:srgbClr val="E6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54100" y="4699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7"/>
            </p:custDataLst>
          </p:nvPr>
        </p:nvSpPr>
        <p:spPr>
          <a:xfrm>
            <a:off x="1651000" y="4546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创新解决方案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8"/>
            </p:custDataLst>
          </p:nvPr>
        </p:nvSpPr>
        <p:spPr>
          <a:xfrm>
            <a:off x="1651000" y="4902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构建病例数据库 + AI辅助决策 + 本地医疗联动的闭环服务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762000" y="5435600"/>
            <a:ext cx="482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952500" y="5638800"/>
            <a:ext cx="508000" cy="508000"/>
          </a:xfrm>
          <a:prstGeom prst="ellipse">
            <a:avLst/>
          </a:prstGeom>
          <a:solidFill>
            <a:srgbClr val="E6F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54100" y="57404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4"/>
            </p:custDataLst>
          </p:nvPr>
        </p:nvSpPr>
        <p:spPr>
          <a:xfrm>
            <a:off x="1651000" y="5588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关键核心指标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35"/>
            </p:custDataLst>
          </p:nvPr>
        </p:nvSpPr>
        <p:spPr>
          <a:xfrm>
            <a:off x="1651000" y="5943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优先提升方案匹配准确度、服务响应效率与用户</a:t>
            </a:r>
            <a:r>
              <a:rPr lang="zh-CN" alt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信任感</a:t>
            </a:r>
            <a:endParaRPr lang="zh-CN" alt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5978525" y="1270000"/>
            <a:ext cx="5334000" cy="5080000"/>
          </a:xfrm>
          <a:prstGeom prst="roundRect">
            <a:avLst>
              <a:gd name="adj" fmla="val 4000"/>
            </a:avLst>
          </a:prstGeom>
          <a:solidFill>
            <a:srgbClr val="E6F0FF">
              <a:alpha val="100000"/>
            </a:srgbClr>
          </a:solidFill>
          <a:ln w="25400" cap="flat" cmpd="sng">
            <a:solidFill>
              <a:srgbClr val="1E90FF">
                <a:alpha val="100000"/>
              </a:srgbClr>
            </a:solidFill>
            <a:prstDash val="solid"/>
            <a:round/>
          </a:ln>
          <a:effectLst>
            <a:outerShdw blurRad="203200" dist="50800" dir="2700000" algn="tl" rotWithShape="0">
              <a:srgbClr val="1E90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803390" y="1644015"/>
            <a:ext cx="762000" cy="762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901305" y="1676400"/>
            <a:ext cx="161480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zh-CN" altLang="en-US" sz="2800" b="1" i="0" u="none" strike="noStrike">
              <a:solidFill>
                <a:srgbClr val="1E90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" name="Connector 31"/>
          <p:cNvCxnSpPr/>
          <p:nvPr/>
        </p:nvCxnSpPr>
        <p:spPr>
          <a:xfrm rot="21590451">
            <a:off x="6359525" y="266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90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6359525" y="3048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“我们致力于通过海量真实病例数据的深度挖掘，为每一位用户提供精准、专业且可信赖的健康指导方案，让科技赋能医疗，让每个人都能轻松管理自己的健康生活。”</a:t>
            </a:r>
            <a:endParaRPr lang="en-US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359525" y="4826000"/>
            <a:ext cx="4572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486525" y="5016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以数据驱动服务 · 用科技守护健康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>
            <p:custDataLst>
              <p:tags r:id="rId1"/>
            </p:custDataLst>
          </p:nvPr>
        </p:nvGrpSpPr>
        <p:grpSpPr>
          <a:xfrm>
            <a:off x="762000" y="465455"/>
            <a:ext cx="10668000" cy="5842000"/>
            <a:chOff x="1200" y="800"/>
            <a:chExt cx="16800" cy="9200"/>
          </a:xfrm>
        </p:grpSpPr>
        <p:sp>
          <p:nvSpPr>
            <p:cNvPr id="2" name="AutoShape 2"/>
            <p:cNvSpPr/>
            <p:nvPr/>
          </p:nvSpPr>
          <p:spPr>
            <a:xfrm>
              <a:off x="1200" y="800"/>
              <a:ext cx="80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 问题与场景</a:t>
              </a:r>
              <a:endParaRPr lang="en-US" sz="1100"/>
            </a:p>
          </p:txBody>
        </p:sp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1200" y="2000"/>
              <a:ext cx="8200" cy="3800"/>
            </a:xfrm>
            <a:prstGeom prst="roundRect">
              <a:avLst>
                <a:gd name="adj" fmla="val 6315"/>
              </a:avLst>
            </a:prstGeom>
            <a:solidFill>
              <a:srgbClr val="F9FAFB">
                <a:alpha val="100000"/>
              </a:srgbClr>
            </a:solidFill>
            <a:ln w="12700" cap="flat" cmpd="sng">
              <a:solidFill>
                <a:srgbClr val="EEEEE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1600" y="2300"/>
              <a:ext cx="80" cy="480"/>
            </a:xfrm>
            <a:prstGeom prst="roundRect">
              <a:avLst>
                <a:gd name="adj" fmla="val 0"/>
              </a:avLst>
            </a:prstGeom>
            <a:solidFill>
              <a:srgbClr val="FF8C0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>
              <p:custDataLst>
                <p:tags r:id="rId4"/>
              </p:custDataLst>
            </p:nvPr>
          </p:nvSpPr>
          <p:spPr>
            <a:xfrm>
              <a:off x="1880" y="2260"/>
              <a:ext cx="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目标角色画像</a:t>
              </a:r>
              <a:endParaRPr lang="en-US" sz="1100"/>
            </a:p>
          </p:txBody>
        </p:sp>
        <p:sp>
          <p:nvSpPr>
            <p:cNvPr id="6" name="AutoShape 6"/>
            <p:cNvSpPr/>
            <p:nvPr>
              <p:custDataLst>
                <p:tags r:id="rId5"/>
              </p:custDataLst>
            </p:nvPr>
          </p:nvSpPr>
          <p:spPr>
            <a:xfrm>
              <a:off x="1600" y="3100"/>
              <a:ext cx="7400" cy="12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7" name="Picture 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00" y="3360"/>
              <a:ext cx="640" cy="640"/>
            </a:xfrm>
            <a:prstGeom prst="rect">
              <a:avLst/>
            </a:prstGeom>
          </p:spPr>
        </p:pic>
        <p:sp>
          <p:nvSpPr>
            <p:cNvPr id="8" name="AutoShape 8"/>
            <p:cNvSpPr/>
            <p:nvPr>
              <p:custDataLst>
                <p:tags r:id="rId9"/>
              </p:custDataLst>
            </p:nvPr>
          </p:nvSpPr>
          <p:spPr>
            <a:xfrm>
              <a:off x="2800" y="3200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高净值成年人群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特征：高压工作 / 时间稀缺 / 心梗猝死高危人群</a:t>
              </a:r>
              <a:endPara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10"/>
              </p:custDataLst>
            </p:nvPr>
          </p:nvSpPr>
          <p:spPr>
            <a:xfrm>
              <a:off x="1600" y="4500"/>
              <a:ext cx="7400" cy="12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0" name="Picture 1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900" y="4760"/>
              <a:ext cx="640" cy="64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>
              <p:custDataLst>
                <p:tags r:id="rId14"/>
              </p:custDataLst>
            </p:nvPr>
          </p:nvSpPr>
          <p:spPr>
            <a:xfrm>
              <a:off x="2800" y="4600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银发老年群体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特征：慢病共存 / 用药复杂 / 应急需求强 / 行动不便</a:t>
              </a:r>
              <a:endPara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2" name="AutoShape 12"/>
            <p:cNvSpPr/>
            <p:nvPr>
              <p:custDataLst>
                <p:tags r:id="rId15"/>
              </p:custDataLst>
            </p:nvPr>
          </p:nvSpPr>
          <p:spPr>
            <a:xfrm>
              <a:off x="1200" y="6200"/>
              <a:ext cx="8200" cy="3800"/>
            </a:xfrm>
            <a:prstGeom prst="roundRect">
              <a:avLst>
                <a:gd name="adj" fmla="val 6315"/>
              </a:avLst>
            </a:prstGeom>
            <a:solidFill>
              <a:srgbClr val="F9FAFB">
                <a:alpha val="100000"/>
              </a:srgbClr>
            </a:solidFill>
            <a:ln w="12700" cap="flat" cmpd="sng">
              <a:solidFill>
                <a:srgbClr val="EEEEE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>
              <p:custDataLst>
                <p:tags r:id="rId16"/>
              </p:custDataLst>
            </p:nvPr>
          </p:nvSpPr>
          <p:spPr>
            <a:xfrm>
              <a:off x="1600" y="6500"/>
              <a:ext cx="80" cy="480"/>
            </a:xfrm>
            <a:prstGeom prst="roundRect">
              <a:avLst>
                <a:gd name="adj" fmla="val 0"/>
              </a:avLst>
            </a:prstGeom>
            <a:solidFill>
              <a:srgbClr val="FF8C0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>
              <p:custDataLst>
                <p:tags r:id="rId17"/>
              </p:custDataLst>
            </p:nvPr>
          </p:nvSpPr>
          <p:spPr>
            <a:xfrm>
              <a:off x="1880" y="6460"/>
              <a:ext cx="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核心服务场景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18"/>
              </p:custDataLst>
            </p:nvPr>
          </p:nvSpPr>
          <p:spPr>
            <a:xfrm>
              <a:off x="1600" y="7300"/>
              <a:ext cx="7400" cy="12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6" name="Picture 1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00" y="7560"/>
              <a:ext cx="640" cy="64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>
              <p:custDataLst>
                <p:tags r:id="rId22"/>
              </p:custDataLst>
            </p:nvPr>
          </p:nvSpPr>
          <p:spPr>
            <a:xfrm>
              <a:off x="2800" y="7400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职场健康干预场景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动作：年度体检报告解读 + 个性化干预 + 急症预警</a:t>
              </a:r>
              <a:endPara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8" name="AutoShape 18"/>
            <p:cNvSpPr/>
            <p:nvPr>
              <p:custDataLst>
                <p:tags r:id="rId23"/>
              </p:custDataLst>
            </p:nvPr>
          </p:nvSpPr>
          <p:spPr>
            <a:xfrm>
              <a:off x="1600" y="8700"/>
              <a:ext cx="7400" cy="12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9" name="Picture 19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900" y="8960"/>
              <a:ext cx="640" cy="640"/>
            </a:xfrm>
            <a:prstGeom prst="rect">
              <a:avLst/>
            </a:prstGeom>
          </p:spPr>
        </p:pic>
        <p:sp>
          <p:nvSpPr>
            <p:cNvPr id="20" name="AutoShape 20"/>
            <p:cNvSpPr/>
            <p:nvPr>
              <p:custDataLst>
                <p:tags r:id="rId27"/>
              </p:custDataLst>
            </p:nvPr>
          </p:nvSpPr>
          <p:spPr>
            <a:xfrm>
              <a:off x="2800" y="8800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居家慢病管理场景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动作：社区居家随访 + 智能用药指导 + 应急健康陪伴</a:t>
              </a:r>
              <a:endPara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1" name="AutoShape 21"/>
            <p:cNvSpPr/>
            <p:nvPr>
              <p:custDataLst>
                <p:tags r:id="rId28"/>
              </p:custDataLst>
            </p:nvPr>
          </p:nvSpPr>
          <p:spPr>
            <a:xfrm>
              <a:off x="9800" y="2000"/>
              <a:ext cx="8200" cy="3800"/>
            </a:xfrm>
            <a:prstGeom prst="roundRect">
              <a:avLst>
                <a:gd name="adj" fmla="val 6315"/>
              </a:avLst>
            </a:prstGeom>
            <a:solidFill>
              <a:srgbClr val="F9FAFB">
                <a:alpha val="100000"/>
              </a:srgbClr>
            </a:solidFill>
            <a:ln w="12700" cap="flat" cmpd="sng">
              <a:solidFill>
                <a:srgbClr val="EEEEE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2" name="AutoShape 22"/>
            <p:cNvSpPr/>
            <p:nvPr>
              <p:custDataLst>
                <p:tags r:id="rId29"/>
              </p:custDataLst>
            </p:nvPr>
          </p:nvSpPr>
          <p:spPr>
            <a:xfrm>
              <a:off x="10200" y="2300"/>
              <a:ext cx="80" cy="480"/>
            </a:xfrm>
            <a:prstGeom prst="roundRect">
              <a:avLst>
                <a:gd name="adj" fmla="val 0"/>
              </a:avLst>
            </a:prstGeom>
            <a:solidFill>
              <a:srgbClr val="FF8C0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>
              <p:custDataLst>
                <p:tags r:id="rId30"/>
              </p:custDataLst>
            </p:nvPr>
          </p:nvSpPr>
          <p:spPr>
            <a:xfrm>
              <a:off x="10480" y="2260"/>
              <a:ext cx="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用户核心痛点</a:t>
              </a:r>
              <a:endParaRPr lang="en-US" sz="1100"/>
            </a:p>
          </p:txBody>
        </p:sp>
        <p:sp>
          <p:nvSpPr>
            <p:cNvPr id="24" name="AutoShape 24"/>
            <p:cNvSpPr/>
            <p:nvPr>
              <p:custDataLst>
                <p:tags r:id="rId31"/>
              </p:custDataLst>
            </p:nvPr>
          </p:nvSpPr>
          <p:spPr>
            <a:xfrm>
              <a:off x="10200" y="3100"/>
              <a:ext cx="7400" cy="12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5" name="Picture 25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0500" y="3360"/>
              <a:ext cx="640" cy="640"/>
            </a:xfrm>
            <a:prstGeom prst="rect">
              <a:avLst/>
            </a:prstGeom>
          </p:spPr>
        </p:pic>
        <p:sp>
          <p:nvSpPr>
            <p:cNvPr id="26" name="AutoShape 26"/>
            <p:cNvSpPr/>
            <p:nvPr>
              <p:custDataLst>
                <p:tags r:id="rId35"/>
              </p:custDataLst>
            </p:nvPr>
          </p:nvSpPr>
          <p:spPr>
            <a:xfrm>
              <a:off x="11400" y="3200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缺乏有效健康抓手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痛点：无暇管理 / 健康信息繁杂不可信 / 方案难以落地</a:t>
              </a:r>
              <a:endPara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7" name="AutoShape 27"/>
            <p:cNvSpPr/>
            <p:nvPr>
              <p:custDataLst>
                <p:tags r:id="rId36"/>
              </p:custDataLst>
            </p:nvPr>
          </p:nvSpPr>
          <p:spPr>
            <a:xfrm>
              <a:off x="10200" y="4500"/>
              <a:ext cx="7400" cy="12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8" name="Picture 28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500" y="4760"/>
              <a:ext cx="640" cy="640"/>
            </a:xfrm>
            <a:prstGeom prst="rect">
              <a:avLst/>
            </a:prstGeom>
          </p:spPr>
        </p:pic>
        <p:sp>
          <p:nvSpPr>
            <p:cNvPr id="29" name="AutoShape 29"/>
            <p:cNvSpPr/>
            <p:nvPr>
              <p:custDataLst>
                <p:tags r:id="rId40"/>
              </p:custDataLst>
            </p:nvPr>
          </p:nvSpPr>
          <p:spPr>
            <a:xfrm>
              <a:off x="11400" y="4600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服务断层与数字鸿沟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痛点：智能设备操作难 / 专业服务距离远 / 无人持续陪伴</a:t>
              </a:r>
              <a:endPara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0" name="AutoShape 30"/>
            <p:cNvSpPr/>
            <p:nvPr>
              <p:custDataLst>
                <p:tags r:id="rId41"/>
              </p:custDataLst>
            </p:nvPr>
          </p:nvSpPr>
          <p:spPr>
            <a:xfrm>
              <a:off x="9800" y="6200"/>
              <a:ext cx="8200" cy="3800"/>
            </a:xfrm>
            <a:prstGeom prst="roundRect">
              <a:avLst>
                <a:gd name="adj" fmla="val 6315"/>
              </a:avLst>
            </a:prstGeom>
            <a:solidFill>
              <a:srgbClr val="F9FAFB">
                <a:alpha val="100000"/>
              </a:srgbClr>
            </a:solidFill>
            <a:ln w="12700" cap="flat" cmpd="sng">
              <a:solidFill>
                <a:srgbClr val="EEEEE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1" name="AutoShape 31"/>
            <p:cNvSpPr/>
            <p:nvPr>
              <p:custDataLst>
                <p:tags r:id="rId42"/>
              </p:custDataLst>
            </p:nvPr>
          </p:nvSpPr>
          <p:spPr>
            <a:xfrm>
              <a:off x="10200" y="6500"/>
              <a:ext cx="80" cy="480"/>
            </a:xfrm>
            <a:prstGeom prst="roundRect">
              <a:avLst>
                <a:gd name="adj" fmla="val 0"/>
              </a:avLst>
            </a:prstGeom>
            <a:solidFill>
              <a:srgbClr val="FF8C0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2" name="AutoShape 32"/>
            <p:cNvSpPr/>
            <p:nvPr>
              <p:custDataLst>
                <p:tags r:id="rId43"/>
              </p:custDataLst>
            </p:nvPr>
          </p:nvSpPr>
          <p:spPr>
            <a:xfrm>
              <a:off x="10480" y="6460"/>
              <a:ext cx="4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现有市场供给痛点</a:t>
              </a:r>
              <a:endParaRPr lang="en-US" sz="1100"/>
            </a:p>
          </p:txBody>
        </p:sp>
        <p:sp>
          <p:nvSpPr>
            <p:cNvPr id="33" name="AutoShape 33"/>
            <p:cNvSpPr/>
            <p:nvPr>
              <p:custDataLst>
                <p:tags r:id="rId44"/>
              </p:custDataLst>
            </p:nvPr>
          </p:nvSpPr>
          <p:spPr>
            <a:xfrm>
              <a:off x="10200" y="7300"/>
              <a:ext cx="7400" cy="12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34" name="Picture 34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0500" y="7560"/>
              <a:ext cx="640" cy="640"/>
            </a:xfrm>
            <a:prstGeom prst="rect">
              <a:avLst/>
            </a:prstGeom>
          </p:spPr>
        </p:pic>
        <p:sp>
          <p:nvSpPr>
            <p:cNvPr id="35" name="AutoShape 35"/>
            <p:cNvSpPr/>
            <p:nvPr>
              <p:custDataLst>
                <p:tags r:id="rId48"/>
              </p:custDataLst>
            </p:nvPr>
          </p:nvSpPr>
          <p:spPr>
            <a:xfrm>
              <a:off x="11400" y="7400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普惠服务重量轻质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现状：流量工具多，无法提供深度、长期、个性化的指导</a:t>
              </a:r>
              <a:endPara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6" name="AutoShape 36"/>
            <p:cNvSpPr/>
            <p:nvPr>
              <p:custDataLst>
                <p:tags r:id="rId49"/>
              </p:custDataLst>
            </p:nvPr>
          </p:nvSpPr>
          <p:spPr>
            <a:xfrm>
              <a:off x="10200" y="8700"/>
              <a:ext cx="7400" cy="12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254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37" name="Picture 37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10500" y="8960"/>
              <a:ext cx="640" cy="640"/>
            </a:xfrm>
            <a:prstGeom prst="rect">
              <a:avLst/>
            </a:prstGeom>
          </p:spPr>
        </p:pic>
        <p:sp>
          <p:nvSpPr>
            <p:cNvPr id="38" name="AutoShape 38"/>
            <p:cNvSpPr/>
            <p:nvPr>
              <p:custDataLst>
                <p:tags r:id="rId53"/>
              </p:custDataLst>
            </p:nvPr>
          </p:nvSpPr>
          <p:spPr>
            <a:xfrm>
              <a:off x="11400" y="8800"/>
              <a:ext cx="6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3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专业工具不接地气</a:t>
              </a:r>
              <a:endParaRPr lang="en-US" sz="1100"/>
            </a:p>
            <a:p>
              <a:pPr indent="0" algn="l">
                <a:lnSpc>
                  <a:spcPct val="125000"/>
                </a:lnSpc>
              </a:pP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现状：临床决策系统等专业工具仅对B端开放，C端无法触及</a:t>
              </a:r>
              <a:endPara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解决方案：我们的价值主张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016000" y="1651000"/>
            <a:ext cx="812800" cy="812800"/>
          </a:xfrm>
          <a:prstGeom prst="ellipse">
            <a:avLst/>
          </a:prstGeom>
          <a:solidFill>
            <a:srgbClr val="32C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" y="1854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016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真实病例数据库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317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基于真实病例数据，提供有依据的健康指导，确保方案的科学性和可信度，为决策提供坚实支撑。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397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699000" y="1651000"/>
            <a:ext cx="812800" cy="812800"/>
          </a:xfrm>
          <a:prstGeom prst="ellipse">
            <a:avLst/>
          </a:prstGeom>
          <a:solidFill>
            <a:srgbClr val="32C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2200" y="1854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99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智能匹配引擎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99000" y="317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利用深度学习算法，根据用户输入的多维健康信息，快速检索并匹配相似病例，实现千人千面的个性化方案推荐。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1397000"/>
            <a:ext cx="3302000" cy="3429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382000" y="1651000"/>
            <a:ext cx="812800" cy="812800"/>
          </a:xfrm>
          <a:prstGeom prst="ellipse">
            <a:avLst/>
          </a:prstGeom>
          <a:solidFill>
            <a:srgbClr val="32C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85200" y="18542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382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本地医疗资源联动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82000" y="317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深度对接社区医院、药店及体检中心等线下资源，为用户提供便捷的线下服务入口，真正打通线上指导到线下服务的完整闭环。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32C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270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</a:t>
            </a:r>
            <a:r>
              <a:rPr lang="zh-CN" alt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通过“病例库 + AI + 本地资源”的三位一体模式，将健康方案匹配准确率提升至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病例级</a:t>
            </a:r>
            <a:r>
              <a:rPr lang="zh-CN" alt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缩短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响应时间缩短至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分钟级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以保证</a:t>
            </a: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健康方案的落地执行率。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多方需求适配：使用方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清晰界面 + 病例案例指导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2098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79600" y="23114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界面设计优化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6215">
            <a:off x="1066815" y="3041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3302000"/>
            <a:ext cx="2692400" cy="1016000"/>
          </a:xfrm>
          <a:prstGeom prst="roundRect">
            <a:avLst>
              <a:gd name="adj" fmla="val 7500"/>
            </a:avLst>
          </a:prstGeom>
          <a:solidFill>
            <a:srgbClr val="F0F8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19200" y="342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极简双模式交互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19200" y="381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提供成年人简洁版与老年人大字版，兼顾不同年龄层的操作习惯。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" y="4572000"/>
            <a:ext cx="2692400" cy="1016000"/>
          </a:xfrm>
          <a:prstGeom prst="roundRect">
            <a:avLst>
              <a:gd name="adj" fmla="val 7500"/>
            </a:avLst>
          </a:prstGeom>
          <a:solidFill>
            <a:srgbClr val="F0F8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219200" y="469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全流程步骤指引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19200" y="508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可视化引导用户轻松完成信息录入、健康档案查询等核心操作。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800" y="22098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62600" y="23114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操作体验升级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6215">
            <a:off x="4749815" y="3041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749800" y="3302000"/>
            <a:ext cx="2692400" cy="1016000"/>
          </a:xfrm>
          <a:prstGeom prst="roundRect">
            <a:avLst>
              <a:gd name="adj" fmla="val 7500"/>
            </a:avLst>
          </a:prstGeom>
          <a:solidFill>
            <a:srgbClr val="F0F8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902200" y="342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智能输入提示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02200" y="381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关键信息输入提供联想与纠错提示，显著降低用户的使用门槛。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49800" y="4572000"/>
            <a:ext cx="2692400" cy="1016000"/>
          </a:xfrm>
          <a:prstGeom prst="roundRect">
            <a:avLst>
              <a:gd name="adj" fmla="val 7500"/>
            </a:avLst>
          </a:prstGeom>
          <a:solidFill>
            <a:srgbClr val="F0F8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902200" y="469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真实病例示范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902200" y="508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内置脱敏的相似真实病例库，用户一键查看参考，增强方案信任感。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1905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209800"/>
            <a:ext cx="609600" cy="609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245600" y="2311400"/>
            <a:ext cx="190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方案输出落地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6215">
            <a:off x="8432815" y="3041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432800" y="3302000"/>
            <a:ext cx="2692400" cy="1016000"/>
          </a:xfrm>
          <a:prstGeom prst="roundRect">
            <a:avLst>
              <a:gd name="adj" fmla="val 7500"/>
            </a:avLst>
          </a:prstGeom>
          <a:solidFill>
            <a:srgbClr val="F0F8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585200" y="342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通俗化图文表达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585200" y="381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将专业晦涩的医学术语转化为用户易于理解的图文内容，降低认知负荷。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432800" y="4572000"/>
            <a:ext cx="2692400" cy="1016000"/>
          </a:xfrm>
          <a:prstGeom prst="roundRect">
            <a:avLst>
              <a:gd name="adj" fmla="val 7500"/>
            </a:avLst>
          </a:prstGeom>
          <a:solidFill>
            <a:srgbClr val="F0F8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585200" y="4699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可执行健康建议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585200" y="5080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拒绝空泛理论，输出具体、可落地的生活方式调整与干预计划。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多方需求适配：集成方</a:t>
            </a:r>
            <a:endParaRPr lang="en-US" sz="1100"/>
          </a:p>
        </p:txBody>
      </p:sp>
      <p:grpSp>
        <p:nvGrpSpPr>
          <p:cNvPr id="30" name="组合 29"/>
          <p:cNvGrpSpPr/>
          <p:nvPr/>
        </p:nvGrpSpPr>
        <p:grpSpPr>
          <a:xfrm>
            <a:off x="1932940" y="1358900"/>
            <a:ext cx="3302000" cy="4699000"/>
            <a:chOff x="1200" y="2200"/>
            <a:chExt cx="5200" cy="7400"/>
          </a:xfrm>
        </p:grpSpPr>
        <p:sp>
          <p:nvSpPr>
            <p:cNvPr id="3" name="AutoShape 3"/>
            <p:cNvSpPr/>
            <p:nvPr/>
          </p:nvSpPr>
          <p:spPr>
            <a:xfrm>
              <a:off x="1200" y="2200"/>
              <a:ext cx="5200" cy="74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203200" dist="76200" dir="2700000" algn="tl" rotWithShape="0">
                <a:srgbClr val="000000">
                  <a:alpha val="6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/>
          </p:nvSpPr>
          <p:spPr>
            <a:xfrm>
              <a:off x="1200" y="2200"/>
              <a:ext cx="5200" cy="120"/>
            </a:xfrm>
            <a:prstGeom prst="roundRect">
              <a:avLst>
                <a:gd name="adj" fmla="val 0"/>
              </a:avLst>
            </a:prstGeom>
            <a:solidFill>
              <a:srgbClr val="FF8C0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2900" y="2800"/>
              <a:ext cx="1800" cy="1800"/>
            </a:xfrm>
            <a:prstGeom prst="ellipse">
              <a:avLst/>
            </a:prstGeom>
            <a:solidFill>
              <a:srgbClr val="FFF3E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00" y="3200"/>
              <a:ext cx="1000" cy="100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/>
          </p:nvSpPr>
          <p:spPr>
            <a:xfrm>
              <a:off x="1600" y="5000"/>
              <a:ext cx="4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技术性能保障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600" y="6000"/>
              <a:ext cx="4400" cy="1400"/>
            </a:xfrm>
            <a:prstGeom prst="roundRect">
              <a:avLst>
                <a:gd name="adj" fmla="val 8571"/>
              </a:avLst>
            </a:prstGeom>
            <a:solidFill>
              <a:srgbClr val="F9FAF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1800" y="6200"/>
              <a:ext cx="4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病例库索引优化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建立高效索引机制，大幅提升海量数据的检索速度。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00" y="7800"/>
              <a:ext cx="4400" cy="1400"/>
            </a:xfrm>
            <a:prstGeom prst="roundRect">
              <a:avLst>
                <a:gd name="adj" fmla="val 8571"/>
              </a:avLst>
            </a:prstGeom>
            <a:solidFill>
              <a:srgbClr val="F9FAF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800" y="8000"/>
              <a:ext cx="4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AI模型轻量化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模型剪枝与量化，确保在各类终端设备上流畅运行。</a:t>
              </a:r>
              <a:endParaRPr lang="en-US" sz="110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875780" y="1358900"/>
            <a:ext cx="3302000" cy="4699000"/>
            <a:chOff x="12800" y="2200"/>
            <a:chExt cx="5200" cy="7400"/>
          </a:xfrm>
        </p:grpSpPr>
        <p:sp>
          <p:nvSpPr>
            <p:cNvPr id="21" name="AutoShape 21"/>
            <p:cNvSpPr/>
            <p:nvPr/>
          </p:nvSpPr>
          <p:spPr>
            <a:xfrm>
              <a:off x="12800" y="2200"/>
              <a:ext cx="5200" cy="7400"/>
            </a:xfrm>
            <a:prstGeom prst="roundRect">
              <a:avLst>
                <a:gd name="adj" fmla="val 4615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203200" dist="76200" dir="2700000" algn="tl" rotWithShape="0">
                <a:srgbClr val="000000">
                  <a:alpha val="6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2800" y="2200"/>
              <a:ext cx="5200" cy="120"/>
            </a:xfrm>
            <a:prstGeom prst="roundRect">
              <a:avLst>
                <a:gd name="adj" fmla="val 0"/>
              </a:avLst>
            </a:prstGeom>
            <a:solidFill>
              <a:srgbClr val="FF8C0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4500" y="2800"/>
              <a:ext cx="1800" cy="1800"/>
            </a:xfrm>
            <a:prstGeom prst="ellipse">
              <a:avLst/>
            </a:prstGeom>
            <a:solidFill>
              <a:srgbClr val="FFF3E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00" y="3200"/>
              <a:ext cx="1000" cy="1000"/>
            </a:xfrm>
            <a:prstGeom prst="rect">
              <a:avLst/>
            </a:prstGeom>
          </p:spPr>
        </p:pic>
        <p:sp>
          <p:nvSpPr>
            <p:cNvPr id="25" name="AutoShape 25"/>
            <p:cNvSpPr/>
            <p:nvPr/>
          </p:nvSpPr>
          <p:spPr>
            <a:xfrm>
              <a:off x="13200" y="5000"/>
              <a:ext cx="44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稳定逻辑保障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3200" y="6000"/>
              <a:ext cx="4400" cy="1400"/>
            </a:xfrm>
            <a:prstGeom prst="roundRect">
              <a:avLst>
                <a:gd name="adj" fmla="val 8571"/>
              </a:avLst>
            </a:prstGeom>
            <a:solidFill>
              <a:srgbClr val="F9FAF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3400" y="6200"/>
              <a:ext cx="4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全链路可追溯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关键词→病症→病例→方案，每一步决策依据清晰可查。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3200" y="7800"/>
              <a:ext cx="4400" cy="1400"/>
            </a:xfrm>
            <a:prstGeom prst="roundRect">
              <a:avLst>
                <a:gd name="adj" fmla="val 8571"/>
              </a:avLst>
            </a:prstGeom>
            <a:solidFill>
              <a:srgbClr val="F9FAF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3400" y="8000"/>
              <a:ext cx="4000" cy="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200" b="1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高并发容错机制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100" b="0" i="0" u="none" strike="noStrike">
                  <a:solidFill>
                    <a:srgbClr val="66666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多级缓存 + 错误自动重试，保障高负载下系统稳定运行。</a:t>
              </a:r>
              <a:endParaRPr lang="en-US" sz="11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多方需求适配：运维方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14500"/>
            <a:ext cx="711200" cy="7112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2032000" y="171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辅助决策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2032000" y="2222500"/>
            <a:ext cx="508000" cy="38100"/>
          </a:xfrm>
          <a:prstGeom prst="roundRect">
            <a:avLst>
              <a:gd name="adj" fmla="val 0"/>
            </a:avLst>
          </a:prstGeom>
          <a:solidFill>
            <a:srgbClr val="32C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2032000" y="247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实时监控日活、匹配成功率、人群分布及使用时长等核心指标，将复杂数据可视化，为运维方的运营策略调整提供科学的数据支撑。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6223000" y="1397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1714500"/>
            <a:ext cx="711200" cy="711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7493000" y="171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透明化机制 信任建设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7493000" y="2222500"/>
            <a:ext cx="508000" cy="38100"/>
          </a:xfrm>
          <a:prstGeom prst="roundRect">
            <a:avLst>
              <a:gd name="adj" fmla="val 0"/>
            </a:avLst>
          </a:prstGeom>
          <a:solidFill>
            <a:srgbClr val="32C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493000" y="247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公示病例来源确保数据透明，同时展示合规声明与专家审核标识，从专业与合规双重维度，建立并增强用户对平台的深度信任。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762000" y="3937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42545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2032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高效反馈 服务闭环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2032000" y="4762500"/>
            <a:ext cx="508000" cy="38100"/>
          </a:xfrm>
          <a:prstGeom prst="roundRect">
            <a:avLst>
              <a:gd name="adj" fmla="val 0"/>
            </a:avLst>
          </a:prstGeom>
          <a:solidFill>
            <a:srgbClr val="32C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2032000" y="501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支持用户投诉一键提交，建立标准化服务流程，承诺24小时内响应，并跟踪处理结果直至闭环，切实保障用户体验与诉求解决。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6223000" y="3937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000" y="4254500"/>
            <a:ext cx="711200" cy="7112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6"/>
            </p:custDataLst>
          </p:nvPr>
        </p:nvSpPr>
        <p:spPr>
          <a:xfrm>
            <a:off x="7493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精准触达 运营宣发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7"/>
            </p:custDataLst>
          </p:nvPr>
        </p:nvSpPr>
        <p:spPr>
          <a:xfrm>
            <a:off x="7493000" y="4762500"/>
            <a:ext cx="508000" cy="38100"/>
          </a:xfrm>
          <a:prstGeom prst="roundRect">
            <a:avLst>
              <a:gd name="adj" fmla="val 0"/>
            </a:avLst>
          </a:prstGeom>
          <a:solidFill>
            <a:srgbClr val="32C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8"/>
            </p:custDataLst>
          </p:nvPr>
        </p:nvSpPr>
        <p:spPr>
          <a:xfrm>
            <a:off x="7493000" y="501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基于后台人群</a:t>
            </a:r>
            <a:r>
              <a:rPr lang="zh-CN" alt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，针对不同年龄层、地域用户，定向推送季节性疾病预防指南及体检科普内容，实现运维宣发的精准化与有效性。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多方需求适配：合规方 &amp; 预算方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953000"/>
          </a:xfrm>
          <a:prstGeom prst="roundRect">
            <a:avLst>
              <a:gd name="adj" fmla="val 41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1701800"/>
            <a:ext cx="4597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合规方：规则平衡 + 安全保障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2413000"/>
            <a:ext cx="4597400" cy="1143000"/>
          </a:xfrm>
          <a:prstGeom prst="roundRect">
            <a:avLst>
              <a:gd name="adj" fmla="val 13333"/>
            </a:avLst>
          </a:prstGeom>
          <a:solidFill>
            <a:srgbClr val="F9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2667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6035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明确业务边界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984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严格恪守“仅指导不诊疗”的核心原则，主动规避医疗资质相关的法律风险。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3683000"/>
            <a:ext cx="4597400" cy="1143000"/>
          </a:xfrm>
          <a:prstGeom prst="roundRect">
            <a:avLst>
              <a:gd name="adj" fmla="val 13333"/>
            </a:avLst>
          </a:prstGeom>
          <a:solidFill>
            <a:srgbClr val="F9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393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38735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用户隐私保护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4254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建立数据安全防线，用户敏感信息本地加密存储，病例数据全流程严格脱敏处理。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66800" y="4953000"/>
            <a:ext cx="4597400" cy="1143000"/>
          </a:xfrm>
          <a:prstGeom prst="roundRect">
            <a:avLst>
              <a:gd name="adj" fmla="val 13333"/>
            </a:avLst>
          </a:prstGeom>
          <a:solidFill>
            <a:srgbClr val="F9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5207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1435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高风险功能管控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5524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系统层面屏蔽诊断、处方等高危功能入口，从业务源头彻底规避违规操作风险。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397000"/>
            <a:ext cx="5207000" cy="4953000"/>
          </a:xfrm>
          <a:prstGeom prst="roundRect">
            <a:avLst>
              <a:gd name="adj" fmla="val 41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27800" y="1701800"/>
            <a:ext cx="4597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预算方：高效投入 + 市场价值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27800" y="2413000"/>
            <a:ext cx="4597400" cy="1143000"/>
          </a:xfrm>
          <a:prstGeom prst="roundRect">
            <a:avLst>
              <a:gd name="adj" fmla="val 13333"/>
            </a:avLst>
          </a:prstGeom>
          <a:solidFill>
            <a:srgbClr val="F9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2667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26035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轻资产运营模式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366000" y="2984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摒弃传统重资产投入模式，采用“小步快跑”策略，以低成本快速验证项目商业闭环。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27800" y="3683000"/>
            <a:ext cx="4597400" cy="1143000"/>
          </a:xfrm>
          <a:prstGeom prst="roundRect">
            <a:avLst>
              <a:gd name="adj" fmla="val 13333"/>
            </a:avLst>
          </a:prstGeom>
          <a:solidFill>
            <a:srgbClr val="F9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1000" y="39370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66000" y="38735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聚焦高价值市场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366000" y="4254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精准锁定高净值人群与银发经济两大核心板块，需求刚性且付费意愿强，市场潜力巨大。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27800" y="4953000"/>
            <a:ext cx="4597400" cy="1143000"/>
          </a:xfrm>
          <a:prstGeom prst="roundRect">
            <a:avLst>
              <a:gd name="adj" fmla="val 13333"/>
            </a:avLst>
          </a:prstGeom>
          <a:solidFill>
            <a:srgbClr val="F9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31000" y="52070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66000" y="51435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清晰商业回报路径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66000" y="5524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构建多元化盈利模型，通过会员订阅、企业健康服务合作、社区服务打包等方式实现收益。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技术路线图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E90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2413000" cy="571500"/>
          </a:xfrm>
          <a:prstGeom prst="roundRect">
            <a:avLst>
              <a:gd name="adj" fmla="val 22222"/>
            </a:avLst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25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952500" y="24765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健康信息录入（症状/体检）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医疗关键词智能检索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人群模式切换（成人/老年）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38500" y="3048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3619500" y="1524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F8C0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3619500" y="1524000"/>
            <a:ext cx="2413000" cy="571500"/>
          </a:xfrm>
          <a:prstGeom prst="roundRect">
            <a:avLst>
              <a:gd name="adj" fmla="val 22222"/>
            </a:avLst>
          </a:prstGeom>
          <a:solidFill>
            <a:srgbClr val="FF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3619500" y="1625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关键处理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3810000" y="22860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关键词提取与病症深度关联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AI相似病例检索与匹配度计算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个性化健康方案生成逻辑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本地医疗资源实时对接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304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477000" y="1524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32CD32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6477000" y="1524000"/>
            <a:ext cx="2413000" cy="571500"/>
          </a:xfrm>
          <a:prstGeom prst="roundRect">
            <a:avLst>
              <a:gd name="adj" fmla="val 22222"/>
            </a:avLst>
          </a:prstGeom>
          <a:solidFill>
            <a:srgbClr val="E8FFE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6477000" y="1625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2C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667500" y="22860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相似病例可视化展示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定制化全周期健康指导方案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周边三甲/社区医疗资源推荐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运维端多维度数据统计报表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3500" y="3048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9334500" y="1524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9370D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9"/>
            </p:custDataLst>
          </p:nvPr>
        </p:nvSpPr>
        <p:spPr>
          <a:xfrm>
            <a:off x="9334500" y="1524000"/>
            <a:ext cx="2413000" cy="571500"/>
          </a:xfrm>
          <a:prstGeom prst="roundRect">
            <a:avLst>
              <a:gd name="adj" fmla="val 22222"/>
            </a:avLst>
          </a:prstGeom>
          <a:solidFill>
            <a:srgbClr val="F0E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0"/>
            </p:custDataLst>
          </p:nvPr>
        </p:nvSpPr>
        <p:spPr>
          <a:xfrm>
            <a:off x="9334500" y="1625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70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1"/>
            </p:custDataLst>
          </p:nvPr>
        </p:nvSpPr>
        <p:spPr>
          <a:xfrm>
            <a:off x="9525000" y="22860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病例匹配准确率测试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系统核心响应时间测试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老年群体操作完成率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医疗数据合规性与安全初审</a:t>
            </a: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>
            <p:custDataLst>
              <p:tags r:id="rId22"/>
            </p:custDataLst>
          </p:nvPr>
        </p:nvCxnSpPr>
        <p:spPr>
          <a:xfrm rot="-4092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3" name="AutoShape 23"/>
          <p:cNvSpPr/>
          <p:nvPr>
            <p:custDataLst>
              <p:tags r:id="rId23"/>
            </p:custDataLst>
          </p:nvPr>
        </p:nvSpPr>
        <p:spPr>
          <a:xfrm>
            <a:off x="1778000" y="5232400"/>
            <a:ext cx="203200" cy="203200"/>
          </a:xfrm>
          <a:prstGeom prst="ellipse">
            <a:avLst/>
          </a:prstGeom>
          <a:solidFill>
            <a:srgbClr val="FF4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4"/>
            </p:custDataLst>
          </p:nvPr>
        </p:nvSpPr>
        <p:spPr>
          <a:xfrm>
            <a:off x="762000" y="5524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 (第6周)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界面原型 + 病例库搭建</a:t>
            </a:r>
            <a:endParaRPr lang="en-US" sz="1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5"/>
            </p:custDataLst>
          </p:nvPr>
        </p:nvSpPr>
        <p:spPr>
          <a:xfrm>
            <a:off x="4635500" y="5232400"/>
            <a:ext cx="203200" cy="203200"/>
          </a:xfrm>
          <a:prstGeom prst="ellipse">
            <a:avLst/>
          </a:prstGeom>
          <a:solidFill>
            <a:srgbClr val="FF4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6"/>
            </p:custDataLst>
          </p:nvPr>
        </p:nvSpPr>
        <p:spPr>
          <a:xfrm>
            <a:off x="3619500" y="5524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(第7-8周)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匹配算法基础功能实现</a:t>
            </a:r>
            <a:endParaRPr lang="en-US" sz="1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7"/>
            </p:custDataLst>
          </p:nvPr>
        </p:nvSpPr>
        <p:spPr>
          <a:xfrm>
            <a:off x="7493000" y="5232400"/>
            <a:ext cx="203200" cy="203200"/>
          </a:xfrm>
          <a:prstGeom prst="ellipse">
            <a:avLst/>
          </a:prstGeom>
          <a:solidFill>
            <a:srgbClr val="FF4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28"/>
            </p:custDataLst>
          </p:nvPr>
        </p:nvSpPr>
        <p:spPr>
          <a:xfrm>
            <a:off x="6477000" y="5524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M3 (第9-10周)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双模式界面 + 数据看板</a:t>
            </a:r>
            <a:endParaRPr lang="en-US" sz="1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>
            <p:custDataLst>
              <p:tags r:id="rId29"/>
            </p:custDataLst>
          </p:nvPr>
        </p:nvSpPr>
        <p:spPr>
          <a:xfrm>
            <a:off x="10350500" y="5232400"/>
            <a:ext cx="203200" cy="203200"/>
          </a:xfrm>
          <a:prstGeom prst="ellipse">
            <a:avLst/>
          </a:prstGeom>
          <a:solidFill>
            <a:srgbClr val="FF4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30"/>
            </p:custDataLst>
          </p:nvPr>
        </p:nvSpPr>
        <p:spPr>
          <a:xfrm>
            <a:off x="9334500" y="5524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M4 (第10-12周)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系统测试 + MVP演示交付</a:t>
            </a:r>
            <a:endParaRPr lang="en-US" sz="1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可行性分析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016000" y="1651000"/>
            <a:ext cx="889000" cy="889000"/>
          </a:xfrm>
          <a:prstGeom prst="ellipse">
            <a:avLst/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2159000" y="1651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技术可行性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2159000" y="2159000"/>
            <a:ext cx="762000" cy="330200"/>
          </a:xfrm>
          <a:prstGeom prst="roundRect">
            <a:avLst>
              <a:gd name="adj" fmla="val 30769"/>
            </a:avLst>
          </a:prstGeom>
          <a:solidFill>
            <a:srgbClr val="52C4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2159000" y="26670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核心依据：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2159000" y="3048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界面开发可基于成熟框架快速实现，降低门槛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匹配算法采用开源相似度检索框架，效果可控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6223000" y="1397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6477000" y="1651000"/>
            <a:ext cx="889000" cy="889000"/>
          </a:xfrm>
          <a:prstGeom prst="ellipse">
            <a:avLst/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1841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7620000" y="1651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资源/数据可行性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7620000" y="2159000"/>
            <a:ext cx="1016000" cy="330200"/>
          </a:xfrm>
          <a:prstGeom prst="roundRect">
            <a:avLst>
              <a:gd name="adj" fmla="val 30769"/>
            </a:avLst>
          </a:prstGeom>
          <a:solidFill>
            <a:srgbClr val="FAAD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基本可行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7620000" y="26670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核心依据：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7620000" y="2921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可获取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病例数据集，满足初期训练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团队研发、产品、设计人员配置完整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762000" y="4064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1016000" y="4318000"/>
            <a:ext cx="889000" cy="889000"/>
          </a:xfrm>
          <a:prstGeom prst="ellipse">
            <a:avLst/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06500" y="4508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2159000" y="431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进度可行性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2159000" y="4826000"/>
            <a:ext cx="762000" cy="330200"/>
          </a:xfrm>
          <a:prstGeom prst="roundRect">
            <a:avLst>
              <a:gd name="adj" fmla="val 30769"/>
            </a:avLst>
          </a:prstGeom>
          <a:solidFill>
            <a:srgbClr val="52C4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2159000" y="53340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核心依据：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2159000" y="5651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整体周期规划为5周，分4个里程碑节点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优先开发MVP核心功能</a:t>
            </a:r>
            <a:r>
              <a:rPr lang="zh-CN" alt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实现落地</a:t>
            </a:r>
            <a:endParaRPr lang="zh-CN" alt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6223000" y="4064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6477000" y="4318000"/>
            <a:ext cx="889000" cy="889000"/>
          </a:xfrm>
          <a:prstGeom prst="ellipse">
            <a:avLst/>
          </a:prstGeom>
          <a:solidFill>
            <a:srgbClr val="E6F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667500" y="45085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33"/>
            </p:custDataLst>
          </p:nvPr>
        </p:nvSpPr>
        <p:spPr>
          <a:xfrm>
            <a:off x="7620000" y="431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合规可行性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7620000" y="4826000"/>
            <a:ext cx="762000" cy="330200"/>
          </a:xfrm>
          <a:prstGeom prst="roundRect">
            <a:avLst>
              <a:gd name="adj" fmla="val 30769"/>
            </a:avLst>
          </a:prstGeom>
          <a:solidFill>
            <a:srgbClr val="52C4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7620000" y="53340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9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核心依据：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36"/>
            </p:custDataLst>
          </p:nvPr>
        </p:nvSpPr>
        <p:spPr>
          <a:xfrm>
            <a:off x="7620000" y="56515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明确“仅健康指导，不提供诊疗”的业务边界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用户敏感数据采用本地加密存储，符合隐私法规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风险清单与对策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812800" cy="8128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1981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9050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技术风险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核心风险点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病例匹配算法的准确率未达到预设目标值，模型在边缘案例下的泛化能力存在不足。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针对性预案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6990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扩充</a:t>
            </a:r>
            <a:r>
              <a:rPr lang="zh-CN" alt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病例集案例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进行训练；快速迭代优化匹配算法逻辑；上线初期增加人工复核审核环节。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99000" y="1778000"/>
            <a:ext cx="812800" cy="8128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2200" y="19812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715000" y="19050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资源风险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2921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核心风险点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3302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本地医疗资源合作方</a:t>
            </a:r>
            <a:r>
              <a:rPr lang="zh-CN" alt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无法提供用户支持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，可能导致MVP阶段核心数据源缺失。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4318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针对性预案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0" y="46990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提前对接2家以上的备选合作方建立联系；MVP测试期使用虚拟入口模拟真实数据；同步寻求校内医学实验室资源支持。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1524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82000" y="1778000"/>
            <a:ext cx="812800" cy="812800"/>
          </a:xfrm>
          <a:prstGeom prst="ellipse">
            <a:avLst/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85200" y="19812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398000" y="19050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合规风险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2921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核心风险点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82000" y="3302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可能被用户投诉存在“变相诊疗”的嫌疑，从而引发监管部门的关注与合规审查。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0" y="4318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针对性预案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46990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在APP显著位置增加明确的免责声明；系统后台自动过滤禁用医疗高风险词汇；邀请专业法律顾问进行合规性审核。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143500" y="3556000"/>
            <a:ext cx="1905000" cy="50800"/>
          </a:xfrm>
          <a:prstGeom prst="roundRect">
            <a:avLst>
              <a:gd name="adj" fmla="val 0"/>
            </a:avLst>
          </a:prstGeom>
          <a:solidFill>
            <a:srgbClr val="1E90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3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4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5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6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7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8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9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0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1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2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3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4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5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6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7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8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19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0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1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2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3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4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5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6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7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8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29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30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31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32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33.xml><?xml version="1.0" encoding="utf-8"?>
<p:tagLst xmlns:p="http://schemas.openxmlformats.org/presentationml/2006/main">
  <p:tag name="KSO_WM_DIAGRAM_VIRTUALLY_FRAME" val="{&quot;height&quot;:410,&quot;left&quot;:355.9,&quot;top&quot;:74.3,&quot;width&quot;:486}"/>
</p:tagLst>
</file>

<file path=ppt/tags/tag34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35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36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37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38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39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0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1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2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3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4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5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6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7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8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49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0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1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2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3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4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5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6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7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8.xml><?xml version="1.0" encoding="utf-8"?>
<p:tagLst xmlns:p="http://schemas.openxmlformats.org/presentationml/2006/main">
  <p:tag name="KSO_WM_DIAGRAM_VIRTUALLY_FRAME" val="{&quot;height&quot;:400,&quot;left&quot;:60,&quot;top&quot;:100,&quot;width&quot;:380}"/>
</p:tagLst>
</file>

<file path=ppt/tags/tag59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0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1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2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3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4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5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6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7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8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69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0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1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2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3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4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5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6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7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8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79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0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1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2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3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4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5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6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7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8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89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90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91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92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93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94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95.xml><?xml version="1.0" encoding="utf-8"?>
<p:tagLst xmlns:p="http://schemas.openxmlformats.org/presentationml/2006/main">
  <p:tag name="KSO_WM_DIAGRAM_VIRTUALLY_FRAME" val="{&quot;height&quot;:460,&quot;left&quot;:60,&quot;top&quot;:36.65,&quot;width&quot;:840}"/>
</p:tagLst>
</file>

<file path=ppt/tags/tag96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97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98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99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0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1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2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3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4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5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6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7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8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09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10.xml><?xml version="1.0" encoding="utf-8"?>
<p:tagLst xmlns:p="http://schemas.openxmlformats.org/presentationml/2006/main">
  <p:tag name="KSO_WM_DIAGRAM_VIRTUALLY_FRAME" val="{&quot;height&quot;:270,&quot;left&quot;:60,&quot;top&quot;:110,&quot;width&quot;:840}"/>
</p:tagLst>
</file>

<file path=ppt/tags/tag111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12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13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14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15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16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17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18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19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0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1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2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3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4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5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6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7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8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29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30.xml><?xml version="1.0" encoding="utf-8"?>
<p:tagLst xmlns:p="http://schemas.openxmlformats.org/presentationml/2006/main">
  <p:tag name="KSO_WM_DIAGRAM_VIRTUALLY_FRAME" val="{&quot;height&quot;:380,&quot;left&quot;:60,&quot;top&quot;:110,&quot;width&quot;:840}"/>
</p:tagLst>
</file>

<file path=ppt/tags/tag131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32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33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34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35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36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37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38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39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0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1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2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3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4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5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6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7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8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49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0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1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2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3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4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5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6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7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8.xml><?xml version="1.0" encoding="utf-8"?>
<p:tagLst xmlns:p="http://schemas.openxmlformats.org/presentationml/2006/main">
  <p:tag name="KSO_WM_DIAGRAM_VIRTUALLY_FRAME" val="{&quot;height&quot;:375,&quot;left&quot;:60,&quot;top&quot;:120,&quot;width&quot;:865}"/>
</p:tagLst>
</file>

<file path=ppt/tags/tag159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0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1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2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3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4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5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6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7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8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69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0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1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2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3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4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5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6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7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8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79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80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81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82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83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84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85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ags/tag186.xml><?xml version="1.0" encoding="utf-8"?>
<p:tagLst xmlns:p="http://schemas.openxmlformats.org/presentationml/2006/main">
  <p:tag name="KSO_WM_DIAGRAM_VIRTUALLY_FRAME" val="{&quot;height&quot;:400,&quot;left&quot;:60,&quot;top&quot;:11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2896</Words>
  <Application>WPS 演示</Application>
  <PresentationFormat/>
  <Paragraphs>338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白孟石0101</cp:lastModifiedBy>
  <cp:revision>14</cp:revision>
  <dcterms:created xsi:type="dcterms:W3CDTF">2026-04-16T08:58:00Z</dcterms:created>
  <dcterms:modified xsi:type="dcterms:W3CDTF">2026-04-16T11:45:02Z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4F83D81BC61941B2A7BC52A84CC7A270_12</vt:lpwstr>
  </property>
</Properties>
</file>