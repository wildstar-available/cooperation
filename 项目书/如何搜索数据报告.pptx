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5.svg" ContentType="image/svg+xml"/>
  <Override PartName="/ppt/media/image3.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8" r:id="rId6"/>
    <p:sldId id="257" r:id="rId7"/>
    <p:sldId id="260"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8" userDrawn="1">
          <p15:clr>
            <a:srgbClr val="747775"/>
          </p15:clr>
        </p15:guide>
        <p15:guide id="2" pos="288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8"/>
        <p:guide pos="288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是XXX，今天我将向大家介绍我的项目——XX项目。本次汇报将分为四个部分，分别是项目背景与目标、核心内容与方法、成果展示与分析，以及最后的总结与展望。希望能通过这次汇报，让大家对我的项目有一个全面的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来看项目背景。当前，我们观察到数字化转型的加速，这带来了传统业务流程效率低下的具体痛点。为了有效解决这些问题，我们启动了这个项目。我们的核心目标非常明确，首先是要优化核心业务流程，其次是降低20%的运营成本，最终希望能够为企业带来数字化生态全面升级的长远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今天汇报的主要内容结构。首先，我会介绍项目的背景和我们设定的目标；接着，会详细讲解项目的核心内容和我们采用的方法；然后，将展示我们取得的成果并进行分析；最后，对整个项目进行总结并展望未来的工作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这是我们项目取得的一些关键成果。从左侧展示的数据仪表盘可以看到，通过项目全周期的实施，我们成功完成了核心产品的数字化转型原型开发，并建立了完整的用户反馈闭环机制。</a:t>
            </a:r>
            <a:endParaRPr lang="en-US" sz="1400" b="0" i="0" u="none" strike="noStrike">
              <a:solidFill>
                <a:srgbClr val="000000"/>
              </a:solidFill>
            </a:endParaRPr>
          </a:p>
          <a:p>
            <a:pPr indent="0" algn="l">
              <a:lnSpc>
                <a:spcPct val="100000"/>
              </a:lnSpc>
            </a:pPr>
            <a:r>
              <a:rPr lang="en-US" sz="1400" b="0" i="0" u="none" strike="noStrike">
                <a:solidFill>
                  <a:srgbClr val="000000"/>
                </a:solidFill>
              </a:rPr>
              <a:t>通过对这些成果的深入分析，我们发现这些数据有力地验证了我们“数据驱动决策”这一核心理念的正确性。特别是运营数据显示，系统上线后，人工操作成本降低了35%，响应速度提升了50%，这充分证明了我们项目方向的正确性以及在降本增效方面所取得的显著成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6.jpe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tags" Target="../tags/tag2.xml"/><Relationship Id="rId27" Type="http://schemas.openxmlformats.org/officeDocument/2006/relationships/notesSlide" Target="../notesSlides/notesSlide3.xml"/><Relationship Id="rId26" Type="http://schemas.openxmlformats.org/officeDocument/2006/relationships/slideLayout" Target="../slideLayouts/slideLayout12.xml"/><Relationship Id="rId25" Type="http://schemas.openxmlformats.org/officeDocument/2006/relationships/tags" Target="../tags/tag16.xml"/><Relationship Id="rId24" Type="http://schemas.openxmlformats.org/officeDocument/2006/relationships/tags" Target="../tags/tag15.xml"/><Relationship Id="rId23" Type="http://schemas.openxmlformats.org/officeDocument/2006/relationships/image" Target="../media/image12.svg"/><Relationship Id="rId22" Type="http://schemas.openxmlformats.org/officeDocument/2006/relationships/image" Target="../media/image11.png"/><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tags" Target="../tags/tag1.xml"/><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image" Target="../media/image10.svg"/><Relationship Id="rId16" Type="http://schemas.openxmlformats.org/officeDocument/2006/relationships/image" Target="../media/image9.png"/><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tags" Target="../tags/tag8.xml"/><Relationship Id="rId12" Type="http://schemas.openxmlformats.org/officeDocument/2006/relationships/tags" Target="../tags/tag7.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13.png"/><Relationship Id="rId3" Type="http://schemas.openxmlformats.org/officeDocument/2006/relationships/image" Target="../media/image10.svg"/><Relationship Id="rId2" Type="http://schemas.openxmlformats.org/officeDocument/2006/relationships/image" Target="../media/image9.png"/><Relationship Id="rId15" Type="http://schemas.openxmlformats.org/officeDocument/2006/relationships/notesSlide" Target="../notesSlides/notesSlide4.xml"/><Relationship Id="rId14" Type="http://schemas.openxmlformats.org/officeDocument/2006/relationships/slideLayout" Target="../slideLayouts/slideLayout12.xml"/><Relationship Id="rId13" Type="http://schemas.openxmlformats.org/officeDocument/2006/relationships/image" Target="../media/image18.png"/><Relationship Id="rId12" Type="http://schemas.openxmlformats.org/officeDocument/2006/relationships/image" Target="../media/image5.svg"/><Relationship Id="rId11" Type="http://schemas.openxmlformats.org/officeDocument/2006/relationships/image" Target="../media/image17.png"/><Relationship Id="rId10" Type="http://schemas.openxmlformats.org/officeDocument/2006/relationships/tags" Target="../tags/tag19.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86000" y="1651000"/>
            <a:ext cx="7620000" cy="3048000"/>
          </a:xfrm>
          <a:prstGeom prst="roundRect">
            <a:avLst>
              <a:gd name="adj" fmla="val 4166"/>
            </a:avLst>
          </a:prstGeom>
          <a:solidFill>
            <a:srgbClr val="FFFFFF">
              <a:alpha val="90000"/>
            </a:srgbClr>
          </a:solidFill>
          <a:ln w="25400" cap="flat" cmpd="sng">
            <a:noFill/>
            <a:prstDash val="solid"/>
            <a:round/>
          </a:ln>
          <a:effectLst>
            <a:outerShdw blurRad="254000" dist="127000" dir="5400000" algn="tl" rotWithShape="0">
              <a:srgbClr val="000000">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91200" y="1905000"/>
            <a:ext cx="609600" cy="609600"/>
          </a:xfrm>
          <a:prstGeom prst="rect">
            <a:avLst/>
          </a:prstGeom>
        </p:spPr>
      </p:pic>
      <p:sp>
        <p:nvSpPr>
          <p:cNvPr id="5" name="AutoShape 5"/>
          <p:cNvSpPr/>
          <p:nvPr/>
        </p:nvSpPr>
        <p:spPr>
          <a:xfrm>
            <a:off x="2540000" y="2667000"/>
            <a:ext cx="711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2800"/>
              <a:t>基于病例数据库的私人定制医学方案</a:t>
            </a:r>
            <a:endParaRPr lang="zh-CN" altLang="en-US" sz="2800"/>
          </a:p>
        </p:txBody>
      </p:sp>
      <p:sp>
        <p:nvSpPr>
          <p:cNvPr id="6" name="AutoShape 6"/>
          <p:cNvSpPr/>
          <p:nvPr/>
        </p:nvSpPr>
        <p:spPr>
          <a:xfrm>
            <a:off x="5715000" y="34290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2540000" y="3683000"/>
            <a:ext cx="711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白孟石</a:t>
            </a:r>
            <a:r>
              <a:rPr lang="en-US" altLang="zh-CN"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第四组</a:t>
            </a:r>
            <a:r>
              <a:rPr lang="en-US" altLang="zh-CN"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altLang="zh-CN"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0" y="6223000"/>
            <a:ext cx="12192000" cy="254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200" b="0" i="0" u="none" strike="noStrike">
                <a:solidFill>
                  <a:srgbClr val="333333">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2026年3</a:t>
            </a:r>
            <a:r>
              <a:rPr lang="zh-CN" altLang="en-US" sz="1200" b="0" i="0" u="none" strike="noStrike">
                <a:solidFill>
                  <a:srgbClr val="333333">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r>
              <a:rPr lang="en-US" altLang="zh-CN" sz="1200" b="0" i="0" u="none" strike="noStrike">
                <a:solidFill>
                  <a:srgbClr val="333333">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26</a:t>
            </a:r>
            <a:r>
              <a:rPr lang="zh-CN" altLang="en-US" sz="1200" b="0" i="0" u="none" strike="noStrike">
                <a:solidFill>
                  <a:srgbClr val="333333">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日</a:t>
            </a:r>
            <a:endParaRPr lang="zh-CN" altLang="en-US" sz="1200" b="0" i="0" u="none" strike="noStrike">
              <a:solidFill>
                <a:srgbClr val="333333">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543050" y="943610"/>
            <a:ext cx="40259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endParaRPr lang="en-US" sz="1100"/>
          </a:p>
        </p:txBody>
      </p:sp>
      <p:sp>
        <p:nvSpPr>
          <p:cNvPr id="4" name="AutoShape 4"/>
          <p:cNvSpPr/>
          <p:nvPr/>
        </p:nvSpPr>
        <p:spPr>
          <a:xfrm>
            <a:off x="762000" y="2204085"/>
            <a:ext cx="5588000" cy="2195830"/>
          </a:xfrm>
          <a:prstGeom prst="roundRect">
            <a:avLst>
              <a:gd name="adj" fmla="val 3571"/>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4750" y="2447290"/>
            <a:ext cx="304800" cy="304800"/>
          </a:xfrm>
          <a:prstGeom prst="rect">
            <a:avLst/>
          </a:prstGeom>
        </p:spPr>
      </p:pic>
      <p:sp>
        <p:nvSpPr>
          <p:cNvPr id="10" name="AutoShape 10"/>
          <p:cNvSpPr/>
          <p:nvPr/>
        </p:nvSpPr>
        <p:spPr>
          <a:xfrm>
            <a:off x="1398270" y="2371090"/>
            <a:ext cx="281305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A90E2"/>
                </a:solidFill>
                <a:latin typeface="Noto Sans SC" panose="020B0200000000000000" charset="-122"/>
                <a:ea typeface="Noto Sans SC" panose="020B0200000000000000" charset="-122"/>
                <a:cs typeface="Noto Sans SC" panose="020B0200000000000000" charset="-122"/>
                <a:sym typeface="Noto Sans SC" panose="020B0200000000000000" charset="-122"/>
              </a:rPr>
              <a:t>    目标</a:t>
            </a:r>
            <a:endParaRPr lang="en-US" sz="1100"/>
          </a:p>
        </p:txBody>
      </p:sp>
      <p:sp>
        <p:nvSpPr>
          <p:cNvPr id="11" name="AutoShape 11"/>
          <p:cNvSpPr/>
          <p:nvPr/>
        </p:nvSpPr>
        <p:spPr>
          <a:xfrm>
            <a:off x="1271270" y="2980690"/>
            <a:ext cx="4570095"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800"/>
              <a:t>在了解了一定的信息检索方法之后进行信息收集，以求在方向调研中尽可能全面的获取所需信息，便于项目搭建。</a:t>
            </a:r>
            <a:endParaRPr lang="zh-CN" altLang="en-US" sz="1800"/>
          </a:p>
        </p:txBody>
      </p:sp>
      <p:pic>
        <p:nvPicPr>
          <p:cNvPr id="12" name="Picture 12"/>
          <p:cNvPicPr>
            <a:picLocks noChangeAspect="1"/>
          </p:cNvPicPr>
          <p:nvPr/>
        </p:nvPicPr>
        <p:blipFill>
          <a:blip r:embed="rId4">
            <a:alphaModFix amt="80000"/>
          </a:blip>
          <a:srcRect/>
          <a:stretch>
            <a:fillRect/>
          </a:stretch>
        </p:blipFill>
        <p:spPr>
          <a:xfrm>
            <a:off x="7874000" y="1905000"/>
            <a:ext cx="2794000" cy="2794000"/>
          </a:xfrm>
          <a:prstGeom prst="rect">
            <a:avLst/>
          </a:prstGeom>
          <a:noFill/>
          <a:ln w="25400" cap="flat" cmpd="sng">
            <a:noFill/>
            <a:prstDash val="solid"/>
            <a:round/>
          </a:ln>
          <a:effectLst>
            <a:outerShdw blurRad="190500" dist="63500" dir="2700000" algn="tl" rotWithShape="0">
              <a:srgbClr val="000000">
                <a:alpha val="15000"/>
              </a:srgbClr>
            </a:outerShdw>
            <a:softEdge rad="25400"/>
          </a:effectLst>
        </p:spPr>
      </p:pic>
      <p:sp>
        <p:nvSpPr>
          <p:cNvPr id="13" name="AutoShape 13"/>
          <p:cNvSpPr/>
          <p:nvPr/>
        </p:nvSpPr>
        <p:spPr>
          <a:xfrm>
            <a:off x="0" y="6756400"/>
            <a:ext cx="12192000" cy="1016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270000" y="508000"/>
            <a:ext cx="2121535"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具体问题</a:t>
            </a:r>
            <a:endParaRPr lang="zh-CN" altLang="en-US" sz="3600" b="1">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270000" y="1206500"/>
            <a:ext cx="762000" cy="508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762000" y="1905000"/>
            <a:ext cx="2476500" cy="3048000"/>
          </a:xfrm>
          <a:prstGeom prst="roundRect">
            <a:avLst>
              <a:gd name="adj" fmla="val 5128"/>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89100" y="2159000"/>
            <a:ext cx="609600" cy="609600"/>
          </a:xfrm>
          <a:prstGeom prst="rect">
            <a:avLst/>
          </a:prstGeom>
        </p:spPr>
      </p:pic>
      <p:sp>
        <p:nvSpPr>
          <p:cNvPr id="8" name="AutoShape 8"/>
          <p:cNvSpPr/>
          <p:nvPr>
            <p:custDataLst>
              <p:tags r:id="rId6"/>
            </p:custDataLst>
          </p:nvPr>
        </p:nvSpPr>
        <p:spPr>
          <a:xfrm>
            <a:off x="882650" y="2921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i="0" u="none" strike="noStrike">
                <a:solidFill>
                  <a:srgbClr val="333333"/>
                </a:solidFill>
                <a:latin typeface="Poppins"/>
                <a:ea typeface="Poppins"/>
                <a:cs typeface="Poppins"/>
                <a:sym typeface="Poppins"/>
              </a:rPr>
              <a:t>问题</a:t>
            </a:r>
            <a:r>
              <a:rPr lang="en-US" altLang="zh-CN" sz="1800" b="1" i="0" u="none" strike="noStrike">
                <a:solidFill>
                  <a:srgbClr val="333333"/>
                </a:solidFill>
                <a:latin typeface="Poppins"/>
                <a:ea typeface="Poppins"/>
                <a:cs typeface="Poppins"/>
                <a:sym typeface="Poppins"/>
              </a:rPr>
              <a:t>1</a:t>
            </a:r>
            <a:endParaRPr lang="en-US" altLang="zh-CN" sz="1800" b="1" i="0" u="none" strike="noStrike">
              <a:solidFill>
                <a:srgbClr val="333333"/>
              </a:solidFill>
              <a:latin typeface="Poppins"/>
              <a:ea typeface="Poppins"/>
              <a:cs typeface="Poppins"/>
              <a:sym typeface="Poppins"/>
            </a:endParaRPr>
          </a:p>
        </p:txBody>
      </p:sp>
      <p:sp>
        <p:nvSpPr>
          <p:cNvPr id="9" name="AutoShape 9"/>
          <p:cNvSpPr/>
          <p:nvPr>
            <p:custDataLst>
              <p:tags r:id="rId7"/>
            </p:custDataLst>
          </p:nvPr>
        </p:nvSpPr>
        <p:spPr>
          <a:xfrm>
            <a:off x="889000" y="3365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zh-CN" altLang="en-US" sz="1300"/>
              <a:t>医疗信息分布，了解一下比如说专家号，比较牛逼的医院是怎样获得知名度的</a:t>
            </a:r>
            <a:endParaRPr lang="zh-CN" altLang="en-US" sz="1300"/>
          </a:p>
          <a:p>
            <a:pPr indent="0" algn="ctr">
              <a:lnSpc>
                <a:spcPct val="108000"/>
              </a:lnSpc>
              <a:defRPr/>
            </a:pPr>
            <a:endParaRPr lang="zh-CN" altLang="en-US" sz="1300"/>
          </a:p>
        </p:txBody>
      </p:sp>
      <p:sp>
        <p:nvSpPr>
          <p:cNvPr id="10" name="AutoShape 10"/>
          <p:cNvSpPr/>
          <p:nvPr>
            <p:custDataLst>
              <p:tags r:id="rId8"/>
            </p:custDataLst>
          </p:nvPr>
        </p:nvSpPr>
        <p:spPr>
          <a:xfrm>
            <a:off x="3492500" y="1905000"/>
            <a:ext cx="2476500" cy="3048000"/>
          </a:xfrm>
          <a:prstGeom prst="roundRect">
            <a:avLst>
              <a:gd name="adj" fmla="val 5128"/>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19600" y="2159000"/>
            <a:ext cx="609600" cy="609600"/>
          </a:xfrm>
          <a:prstGeom prst="rect">
            <a:avLst/>
          </a:prstGeom>
        </p:spPr>
      </p:pic>
      <p:sp>
        <p:nvSpPr>
          <p:cNvPr id="12" name="AutoShape 12"/>
          <p:cNvSpPr/>
          <p:nvPr>
            <p:custDataLst>
              <p:tags r:id="rId12"/>
            </p:custDataLst>
          </p:nvPr>
        </p:nvSpPr>
        <p:spPr>
          <a:xfrm>
            <a:off x="3619500" y="2921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a:solidFill>
                  <a:srgbClr val="333333"/>
                </a:solidFill>
                <a:latin typeface="Poppins"/>
                <a:ea typeface="Poppins"/>
                <a:cs typeface="Poppins"/>
                <a:sym typeface="Poppins"/>
              </a:rPr>
              <a:t>问题</a:t>
            </a:r>
            <a:r>
              <a:rPr lang="en-US" altLang="zh-CN" sz="1800" b="1">
                <a:solidFill>
                  <a:srgbClr val="333333"/>
                </a:solidFill>
                <a:latin typeface="Poppins"/>
                <a:ea typeface="Poppins"/>
                <a:cs typeface="Poppins"/>
                <a:sym typeface="Poppins"/>
              </a:rPr>
              <a:t>2</a:t>
            </a:r>
            <a:endParaRPr lang="en-US" altLang="zh-CN" sz="1800" b="1">
              <a:solidFill>
                <a:srgbClr val="333333"/>
              </a:solidFill>
              <a:latin typeface="Poppins"/>
              <a:ea typeface="Poppins"/>
              <a:cs typeface="Poppins"/>
              <a:sym typeface="Poppins"/>
            </a:endParaRPr>
          </a:p>
        </p:txBody>
      </p:sp>
      <p:sp>
        <p:nvSpPr>
          <p:cNvPr id="13" name="AutoShape 13"/>
          <p:cNvSpPr/>
          <p:nvPr>
            <p:custDataLst>
              <p:tags r:id="rId13"/>
            </p:custDataLst>
          </p:nvPr>
        </p:nvSpPr>
        <p:spPr>
          <a:xfrm>
            <a:off x="3619500" y="3365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zh-CN" altLang="en-US" sz="1300">
                <a:sym typeface="+mn-ea"/>
              </a:rPr>
              <a:t>大宗消费人群，项目要面对有经济基础的人进行推荐（愿意在健康上进行投资的人），如果网上能找到一些调研最好</a:t>
            </a:r>
            <a:endParaRPr lang="en-US" sz="1100"/>
          </a:p>
        </p:txBody>
      </p:sp>
      <p:sp>
        <p:nvSpPr>
          <p:cNvPr id="14" name="AutoShape 14"/>
          <p:cNvSpPr/>
          <p:nvPr>
            <p:custDataLst>
              <p:tags r:id="rId14"/>
            </p:custDataLst>
          </p:nvPr>
        </p:nvSpPr>
        <p:spPr>
          <a:xfrm>
            <a:off x="6223000" y="1905000"/>
            <a:ext cx="2476500" cy="3048000"/>
          </a:xfrm>
          <a:prstGeom prst="roundRect">
            <a:avLst>
              <a:gd name="adj" fmla="val 5128"/>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50100" y="2159000"/>
            <a:ext cx="609600" cy="609600"/>
          </a:xfrm>
          <a:prstGeom prst="rect">
            <a:avLst/>
          </a:prstGeom>
        </p:spPr>
      </p:pic>
      <p:sp>
        <p:nvSpPr>
          <p:cNvPr id="16" name="AutoShape 16"/>
          <p:cNvSpPr/>
          <p:nvPr>
            <p:custDataLst>
              <p:tags r:id="rId18"/>
            </p:custDataLst>
          </p:nvPr>
        </p:nvSpPr>
        <p:spPr>
          <a:xfrm>
            <a:off x="6350000" y="2921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a:solidFill>
                  <a:srgbClr val="333333"/>
                </a:solidFill>
                <a:latin typeface="Poppins"/>
                <a:ea typeface="Poppins"/>
                <a:cs typeface="Poppins"/>
                <a:sym typeface="Poppins"/>
              </a:rPr>
              <a:t>问题</a:t>
            </a:r>
            <a:r>
              <a:rPr lang="en-US" altLang="zh-CN" sz="1800" b="1">
                <a:solidFill>
                  <a:srgbClr val="333333"/>
                </a:solidFill>
                <a:latin typeface="Poppins"/>
                <a:ea typeface="Poppins"/>
                <a:cs typeface="Poppins"/>
                <a:sym typeface="Poppins"/>
              </a:rPr>
              <a:t>3</a:t>
            </a:r>
            <a:endParaRPr lang="en-US" altLang="zh-CN" sz="1800" b="1">
              <a:solidFill>
                <a:srgbClr val="333333"/>
              </a:solidFill>
              <a:latin typeface="Poppins"/>
              <a:ea typeface="Poppins"/>
              <a:cs typeface="Poppins"/>
              <a:sym typeface="Poppins"/>
            </a:endParaRPr>
          </a:p>
        </p:txBody>
      </p:sp>
      <p:sp>
        <p:nvSpPr>
          <p:cNvPr id="17" name="AutoShape 17"/>
          <p:cNvSpPr/>
          <p:nvPr>
            <p:custDataLst>
              <p:tags r:id="rId19"/>
            </p:custDataLst>
          </p:nvPr>
        </p:nvSpPr>
        <p:spPr>
          <a:xfrm>
            <a:off x="6350000" y="3365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zh-CN" altLang="en-US" sz="1300">
                <a:sym typeface="+mn-ea"/>
              </a:rPr>
              <a:t>互联网上的医疗信息，普通人怎么获取信息，比如百度医生，是怎么样综合病例然后瞎判断的，还有那种</a:t>
            </a:r>
            <a:r>
              <a:rPr lang="en-US" altLang="zh-CN" sz="1300">
                <a:sym typeface="+mn-ea"/>
              </a:rPr>
              <a:t>ai</a:t>
            </a:r>
            <a:r>
              <a:rPr lang="zh-CN" altLang="en-US" sz="1300">
                <a:sym typeface="+mn-ea"/>
              </a:rPr>
              <a:t>是怎么检索的</a:t>
            </a:r>
            <a:endParaRPr lang="en-US" sz="1100"/>
          </a:p>
        </p:txBody>
      </p:sp>
      <p:sp>
        <p:nvSpPr>
          <p:cNvPr id="18" name="AutoShape 18"/>
          <p:cNvSpPr/>
          <p:nvPr>
            <p:custDataLst>
              <p:tags r:id="rId20"/>
            </p:custDataLst>
          </p:nvPr>
        </p:nvSpPr>
        <p:spPr>
          <a:xfrm>
            <a:off x="8953500" y="1905000"/>
            <a:ext cx="2476500" cy="3048000"/>
          </a:xfrm>
          <a:prstGeom prst="roundRect">
            <a:avLst>
              <a:gd name="adj" fmla="val 5128"/>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custDataLst>
              <p:tags r:id="rId21"/>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880600" y="2159000"/>
            <a:ext cx="609600" cy="609600"/>
          </a:xfrm>
          <a:prstGeom prst="rect">
            <a:avLst/>
          </a:prstGeom>
        </p:spPr>
      </p:pic>
      <p:sp>
        <p:nvSpPr>
          <p:cNvPr id="20" name="AutoShape 20"/>
          <p:cNvSpPr/>
          <p:nvPr>
            <p:custDataLst>
              <p:tags r:id="rId24"/>
            </p:custDataLst>
          </p:nvPr>
        </p:nvSpPr>
        <p:spPr>
          <a:xfrm>
            <a:off x="9080500" y="2921000"/>
            <a:ext cx="2222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b="1">
                <a:solidFill>
                  <a:srgbClr val="333333"/>
                </a:solidFill>
                <a:latin typeface="Poppins"/>
                <a:ea typeface="Poppins"/>
                <a:cs typeface="Poppins"/>
                <a:sym typeface="Poppins"/>
              </a:rPr>
              <a:t>问题</a:t>
            </a:r>
            <a:r>
              <a:rPr lang="en-US" altLang="zh-CN" sz="1800" b="1">
                <a:solidFill>
                  <a:srgbClr val="333333"/>
                </a:solidFill>
                <a:latin typeface="Poppins"/>
                <a:ea typeface="Poppins"/>
                <a:cs typeface="Poppins"/>
                <a:sym typeface="Poppins"/>
              </a:rPr>
              <a:t>4</a:t>
            </a:r>
            <a:endParaRPr lang="en-US" sz="1100"/>
          </a:p>
        </p:txBody>
      </p:sp>
      <p:sp>
        <p:nvSpPr>
          <p:cNvPr id="21" name="AutoShape 21"/>
          <p:cNvSpPr/>
          <p:nvPr>
            <p:custDataLst>
              <p:tags r:id="rId25"/>
            </p:custDataLst>
          </p:nvPr>
        </p:nvSpPr>
        <p:spPr>
          <a:xfrm>
            <a:off x="9080500" y="3365500"/>
            <a:ext cx="2222500" cy="101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zh-CN" altLang="en-US" sz="1300">
                <a:sym typeface="+mn-ea"/>
              </a:rPr>
              <a:t>中医资源，主要是了解一下中医相关的一些问题，便于扩展业务方向与</a:t>
            </a:r>
            <a:r>
              <a:rPr lang="zh-CN" altLang="en-US" sz="1300">
                <a:sym typeface="+mn-ea"/>
              </a:rPr>
              <a:t>受众</a:t>
            </a:r>
            <a:endParaRPr lang="zh-CN" altLang="en-US" sz="1300">
              <a:sym typeface="+mn-ea"/>
            </a:endParaRPr>
          </a:p>
          <a:p>
            <a:pPr indent="0" algn="ctr">
              <a:lnSpc>
                <a:spcPct val="108000"/>
              </a:lnSpc>
              <a:defRPr/>
            </a:pPr>
            <a:endParaRPr lang="zh-CN" altLang="en-US" sz="13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508000"/>
            <a:ext cx="40259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成果展示与分析</a:t>
            </a:r>
            <a:endParaRPr lang="en-US" sz="1100"/>
          </a:p>
        </p:txBody>
      </p:sp>
      <p:sp>
        <p:nvSpPr>
          <p:cNvPr id="5" name="AutoShape 5"/>
          <p:cNvSpPr/>
          <p:nvPr/>
        </p:nvSpPr>
        <p:spPr>
          <a:xfrm flipV="1">
            <a:off x="762000" y="1212215"/>
            <a:ext cx="1577340" cy="76200"/>
          </a:xfrm>
          <a:prstGeom prst="roundRect">
            <a:avLst>
              <a:gd name="adj" fmla="val 0"/>
            </a:avLst>
          </a:prstGeom>
          <a:solidFill>
            <a:srgbClr val="4A90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264285" y="5944870"/>
            <a:ext cx="9422130" cy="762000"/>
          </a:xfrm>
          <a:prstGeom prst="roundRect">
            <a:avLst>
              <a:gd name="adj" fmla="val 16666"/>
            </a:avLst>
          </a:prstGeom>
          <a:solidFill>
            <a:srgbClr val="4A90E2">
              <a:alpha val="10000"/>
            </a:srgbClr>
          </a:solidFill>
          <a:ln w="12700" cap="flat" cmpd="sng">
            <a:solidFill>
              <a:srgbClr val="4A90E2">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285" y="6056630"/>
            <a:ext cx="539115" cy="539115"/>
          </a:xfrm>
          <a:prstGeom prst="rect">
            <a:avLst/>
          </a:prstGeom>
        </p:spPr>
      </p:pic>
      <p:sp>
        <p:nvSpPr>
          <p:cNvPr id="15" name="AutoShape 15"/>
          <p:cNvSpPr/>
          <p:nvPr/>
        </p:nvSpPr>
        <p:spPr>
          <a:xfrm>
            <a:off x="2666365" y="6109970"/>
            <a:ext cx="662305"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100"/>
          </a:p>
        </p:txBody>
      </p:sp>
      <p:sp>
        <p:nvSpPr>
          <p:cNvPr id="16" name="文本框 15"/>
          <p:cNvSpPr txBox="1"/>
          <p:nvPr/>
        </p:nvSpPr>
        <p:spPr>
          <a:xfrm>
            <a:off x="8166100" y="1212215"/>
            <a:ext cx="3251835" cy="337185"/>
          </a:xfrm>
          <a:prstGeom prst="rect">
            <a:avLst/>
          </a:prstGeom>
          <a:noFill/>
        </p:spPr>
        <p:txBody>
          <a:bodyPr wrap="square" rtlCol="0">
            <a:spAutoFit/>
          </a:bodyPr>
          <a:p>
            <a:r>
              <a:rPr lang="zh-CN" altLang="en-US" sz="1600"/>
              <a:t>北京中医药大学、中国中医药网站</a:t>
            </a:r>
            <a:endParaRPr lang="zh-CN" altLang="en-US" sz="1600"/>
          </a:p>
        </p:txBody>
      </p:sp>
      <p:pic>
        <p:nvPicPr>
          <p:cNvPr id="17" name="图片 16"/>
          <p:cNvPicPr>
            <a:picLocks noChangeAspect="1"/>
          </p:cNvPicPr>
          <p:nvPr/>
        </p:nvPicPr>
        <p:blipFill>
          <a:blip r:embed="rId4"/>
          <a:stretch>
            <a:fillRect/>
          </a:stretch>
        </p:blipFill>
        <p:spPr>
          <a:xfrm>
            <a:off x="8154035" y="2006600"/>
            <a:ext cx="3263900" cy="1873250"/>
          </a:xfrm>
          <a:prstGeom prst="rect">
            <a:avLst/>
          </a:prstGeom>
        </p:spPr>
      </p:pic>
      <p:sp>
        <p:nvSpPr>
          <p:cNvPr id="26" name="AutoShape 6"/>
          <p:cNvSpPr/>
          <p:nvPr>
            <p:custDataLst>
              <p:tags r:id="rId5"/>
            </p:custDataLst>
          </p:nvPr>
        </p:nvSpPr>
        <p:spPr>
          <a:xfrm>
            <a:off x="831215" y="1714500"/>
            <a:ext cx="2476500" cy="3048000"/>
          </a:xfrm>
          <a:prstGeom prst="roundRect">
            <a:avLst>
              <a:gd name="adj" fmla="val 5128"/>
            </a:avLst>
          </a:prstGeom>
          <a:solidFill>
            <a:srgbClr val="FFFFFF">
              <a:alpha val="90000"/>
            </a:srgbClr>
          </a:solidFill>
          <a:ln w="25400" cap="flat" cmpd="sng">
            <a:noFill/>
            <a:prstDash val="solid"/>
            <a:round/>
          </a:ln>
          <a:effectLst>
            <a:outerShdw blurRad="50800" dist="38100" dir="13500000" algn="br" rotWithShape="0">
              <a:prstClr val="black">
                <a:alpha val="40000"/>
              </a:prstClr>
            </a:outerShdw>
          </a:effectLst>
        </p:spPr>
        <p:txBody>
          <a:bodyPr vert="horz" wrap="square" lIns="63500" tIns="63500" rIns="63500" bIns="63500" rtlCol="0" anchor="ctr"/>
          <a:lstStyle/>
          <a:p>
            <a:pPr algn="ctr">
              <a:defRPr/>
            </a:pPr>
          </a:p>
        </p:txBody>
      </p:sp>
      <p:sp>
        <p:nvSpPr>
          <p:cNvPr id="18" name="文本框 17"/>
          <p:cNvSpPr txBox="1"/>
          <p:nvPr/>
        </p:nvSpPr>
        <p:spPr>
          <a:xfrm>
            <a:off x="916940" y="1718945"/>
            <a:ext cx="2305050" cy="2861310"/>
          </a:xfrm>
          <a:prstGeom prst="rect">
            <a:avLst/>
          </a:prstGeom>
          <a:noFill/>
        </p:spPr>
        <p:txBody>
          <a:bodyPr wrap="square" rtlCol="0">
            <a:spAutoFit/>
          </a:bodyPr>
          <a:p>
            <a:pPr algn="ctr"/>
            <a:r>
              <a:rPr lang="zh-CN" altLang="en-US" sz="1800"/>
              <a:t>话术：</a:t>
            </a:r>
            <a:endParaRPr lang="zh-CN" altLang="en-US" sz="1800"/>
          </a:p>
          <a:p>
            <a:r>
              <a:rPr lang="zh-CN" altLang="en-US" sz="1800"/>
              <a:t>我想了解一下高收入人群与高医疗需求之间的关系，以及是否有一些调研能够说明这一点。除此之外我还想了解一下如何收集医疗信息，以及是否存在一些这种信息的快捷检索工具。</a:t>
            </a:r>
            <a:endParaRPr lang="zh-CN" altLang="en-US" sz="1800"/>
          </a:p>
        </p:txBody>
      </p:sp>
      <p:pic>
        <p:nvPicPr>
          <p:cNvPr id="19" name="Picture 14"/>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78695" y="6056630"/>
            <a:ext cx="497205" cy="497205"/>
          </a:xfrm>
          <a:prstGeom prst="rect">
            <a:avLst/>
          </a:prstGeom>
        </p:spPr>
      </p:pic>
      <p:pic>
        <p:nvPicPr>
          <p:cNvPr id="22" name="图片 21"/>
          <p:cNvPicPr>
            <a:picLocks noChangeAspect="1"/>
          </p:cNvPicPr>
          <p:nvPr/>
        </p:nvPicPr>
        <p:blipFill>
          <a:blip r:embed="rId9"/>
          <a:stretch>
            <a:fillRect/>
          </a:stretch>
        </p:blipFill>
        <p:spPr>
          <a:xfrm>
            <a:off x="4394200" y="2006600"/>
            <a:ext cx="3403600" cy="1866900"/>
          </a:xfrm>
          <a:prstGeom prst="rect">
            <a:avLst/>
          </a:prstGeom>
        </p:spPr>
      </p:pic>
      <p:sp>
        <p:nvSpPr>
          <p:cNvPr id="23" name="文本框 22"/>
          <p:cNvSpPr txBox="1"/>
          <p:nvPr/>
        </p:nvSpPr>
        <p:spPr>
          <a:xfrm>
            <a:off x="5316220" y="1212215"/>
            <a:ext cx="1560195" cy="337185"/>
          </a:xfrm>
          <a:prstGeom prst="rect">
            <a:avLst/>
          </a:prstGeom>
          <a:noFill/>
        </p:spPr>
        <p:txBody>
          <a:bodyPr wrap="square" rtlCol="0">
            <a:spAutoFit/>
          </a:bodyPr>
          <a:p>
            <a:pPr algn="ctr"/>
            <a:r>
              <a:rPr lang="en-US" altLang="zh-CN" sz="1600"/>
              <a:t>google scholar</a:t>
            </a:r>
            <a:endParaRPr lang="en-US" altLang="zh-CN" sz="1600"/>
          </a:p>
        </p:txBody>
      </p:sp>
      <p:sp>
        <p:nvSpPr>
          <p:cNvPr id="25" name="文本框 24"/>
          <p:cNvSpPr txBox="1"/>
          <p:nvPr/>
        </p:nvSpPr>
        <p:spPr>
          <a:xfrm>
            <a:off x="3337560" y="6074410"/>
            <a:ext cx="6043295" cy="521335"/>
          </a:xfrm>
          <a:prstGeom prst="rect">
            <a:avLst/>
          </a:prstGeom>
          <a:noFill/>
        </p:spPr>
        <p:txBody>
          <a:bodyPr wrap="square" rtlCol="0">
            <a:noAutofit/>
          </a:bodyPr>
          <a:p>
            <a:r>
              <a:rPr lang="zh-CN" altLang="en-US" sz="1600">
                <a:sym typeface="+mn-ea"/>
              </a:rPr>
              <a:t>首先是利用大模型进行信息筛选，然后根据不同场景的需要，选择期刊、报告、排行榜等不同类型的内容，再进行个人的筛选。</a:t>
            </a:r>
            <a:endParaRPr lang="zh-CN" altLang="en-US" sz="1600"/>
          </a:p>
          <a:p>
            <a:endParaRPr lang="zh-CN" altLang="en-US" sz="1600"/>
          </a:p>
        </p:txBody>
      </p:sp>
      <p:pic>
        <p:nvPicPr>
          <p:cNvPr id="27" name="Picture 7"/>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19430" y="1397000"/>
            <a:ext cx="609600" cy="609600"/>
          </a:xfrm>
          <a:prstGeom prst="rect">
            <a:avLst/>
          </a:prstGeom>
          <a:effectLst>
            <a:outerShdw blurRad="50800" dist="38100" dir="13500000" algn="br" rotWithShape="0">
              <a:prstClr val="black">
                <a:alpha val="40000"/>
              </a:prstClr>
            </a:outerShdw>
          </a:effectLst>
        </p:spPr>
      </p:pic>
      <p:pic>
        <p:nvPicPr>
          <p:cNvPr id="6" name="图片 5"/>
          <p:cNvPicPr>
            <a:picLocks noChangeAspect="1"/>
          </p:cNvPicPr>
          <p:nvPr/>
        </p:nvPicPr>
        <p:blipFill>
          <a:blip r:embed="rId13"/>
          <a:stretch>
            <a:fillRect/>
          </a:stretch>
        </p:blipFill>
        <p:spPr>
          <a:xfrm>
            <a:off x="5651500" y="4345940"/>
            <a:ext cx="4552950" cy="124460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40,&quot;left&quot;:60,&quot;top&quot;:150,&quot;width&quot;:840}"/>
</p:tagLst>
</file>

<file path=ppt/tags/tag2.xml><?xml version="1.0" encoding="utf-8"?>
<p:tagLst xmlns:p="http://schemas.openxmlformats.org/presentationml/2006/main">
  <p:tag name="KSO_WM_DIAGRAM_VIRTUALLY_FRAME" val="{&quot;height&quot;:240,&quot;left&quot;:60,&quot;top&quot;:150,&quot;width&quot;:840}"/>
</p:tagLst>
</file>

<file path=ppt/tags/tag3.xml><?xml version="1.0" encoding="utf-8"?>
<p:tagLst xmlns:p="http://schemas.openxmlformats.org/presentationml/2006/main">
  <p:tag name="KSO_WM_DIAGRAM_VIRTUALLY_FRAME" val="{&quot;height&quot;:240,&quot;left&quot;:60,&quot;top&quot;:150,&quot;width&quot;:840}"/>
</p:tagLst>
</file>

<file path=ppt/tags/tag4.xml><?xml version="1.0" encoding="utf-8"?>
<p:tagLst xmlns:p="http://schemas.openxmlformats.org/presentationml/2006/main">
  <p:tag name="KSO_WM_DIAGRAM_VIRTUALLY_FRAME" val="{&quot;height&quot;:240,&quot;left&quot;:60,&quot;top&quot;:150,&quot;width&quot;:840}"/>
</p:tagLst>
</file>

<file path=ppt/tags/tag5.xml><?xml version="1.0" encoding="utf-8"?>
<p:tagLst xmlns:p="http://schemas.openxmlformats.org/presentationml/2006/main">
  <p:tag name="KSO_WM_DIAGRAM_VIRTUALLY_FRAME" val="{&quot;height&quot;:240,&quot;left&quot;:60,&quot;top&quot;:150,&quot;width&quot;:840}"/>
</p:tagLst>
</file>

<file path=ppt/tags/tag6.xml><?xml version="1.0" encoding="utf-8"?>
<p:tagLst xmlns:p="http://schemas.openxmlformats.org/presentationml/2006/main">
  <p:tag name="KSO_WM_DIAGRAM_VIRTUALLY_FRAME" val="{&quot;height&quot;:240,&quot;left&quot;:60,&quot;top&quot;:150,&quot;width&quot;:840}"/>
</p:tagLst>
</file>

<file path=ppt/tags/tag7.xml><?xml version="1.0" encoding="utf-8"?>
<p:tagLst xmlns:p="http://schemas.openxmlformats.org/presentationml/2006/main">
  <p:tag name="KSO_WM_DIAGRAM_VIRTUALLY_FRAME" val="{&quot;height&quot;:240,&quot;left&quot;:60,&quot;top&quot;:150,&quot;width&quot;:840}"/>
</p:tagLst>
</file>

<file path=ppt/tags/tag8.xml><?xml version="1.0" encoding="utf-8"?>
<p:tagLst xmlns:p="http://schemas.openxmlformats.org/presentationml/2006/main">
  <p:tag name="KSO_WM_DIAGRAM_VIRTUALLY_FRAME" val="{&quot;height&quot;:240,&quot;left&quot;:60,&quot;top&quot;:150,&quot;width&quot;:840}"/>
</p:tagLst>
</file>

<file path=ppt/tags/tag9.xml><?xml version="1.0" encoding="utf-8"?>
<p:tagLst xmlns:p="http://schemas.openxmlformats.org/presentationml/2006/main">
  <p:tag name="KSO_WM_DIAGRAM_VIRTUALLY_FRAME" val="{&quot;height&quot;:240,&quot;left&quot;:60,&quot;top&quot;:150,&quot;width&quot;:840}"/>
</p:tagLst>
</file>

<file path=ppt/tags/tag10.xml><?xml version="1.0" encoding="utf-8"?>
<p:tagLst xmlns:p="http://schemas.openxmlformats.org/presentationml/2006/main">
  <p:tag name="KSO_WM_DIAGRAM_VIRTUALLY_FRAME" val="{&quot;height&quot;:240,&quot;left&quot;:60,&quot;top&quot;:150,&quot;width&quot;:840}"/>
</p:tagLst>
</file>

<file path=ppt/tags/tag11.xml><?xml version="1.0" encoding="utf-8"?>
<p:tagLst xmlns:p="http://schemas.openxmlformats.org/presentationml/2006/main">
  <p:tag name="KSO_WM_DIAGRAM_VIRTUALLY_FRAME" val="{&quot;height&quot;:240,&quot;left&quot;:60,&quot;top&quot;:150,&quot;width&quot;:840}"/>
</p:tagLst>
</file>

<file path=ppt/tags/tag12.xml><?xml version="1.0" encoding="utf-8"?>
<p:tagLst xmlns:p="http://schemas.openxmlformats.org/presentationml/2006/main">
  <p:tag name="KSO_WM_DIAGRAM_VIRTUALLY_FRAME" val="{&quot;height&quot;:240,&quot;left&quot;:60,&quot;top&quot;:150,&quot;width&quot;:840}"/>
</p:tagLst>
</file>

<file path=ppt/tags/tag13.xml><?xml version="1.0" encoding="utf-8"?>
<p:tagLst xmlns:p="http://schemas.openxmlformats.org/presentationml/2006/main">
  <p:tag name="KSO_WM_DIAGRAM_VIRTUALLY_FRAME" val="{&quot;height&quot;:240,&quot;left&quot;:60,&quot;top&quot;:150,&quot;width&quot;:840}"/>
</p:tagLst>
</file>

<file path=ppt/tags/tag14.xml><?xml version="1.0" encoding="utf-8"?>
<p:tagLst xmlns:p="http://schemas.openxmlformats.org/presentationml/2006/main">
  <p:tag name="KSO_WM_DIAGRAM_VIRTUALLY_FRAME" val="{&quot;height&quot;:240,&quot;left&quot;:60,&quot;top&quot;:150,&quot;width&quot;:840}"/>
</p:tagLst>
</file>

<file path=ppt/tags/tag15.xml><?xml version="1.0" encoding="utf-8"?>
<p:tagLst xmlns:p="http://schemas.openxmlformats.org/presentationml/2006/main">
  <p:tag name="KSO_WM_DIAGRAM_VIRTUALLY_FRAME" val="{&quot;height&quot;:240,&quot;left&quot;:60,&quot;top&quot;:150,&quot;width&quot;:840}"/>
</p:tagLst>
</file>

<file path=ppt/tags/tag16.xml><?xml version="1.0" encoding="utf-8"?>
<p:tagLst xmlns:p="http://schemas.openxmlformats.org/presentationml/2006/main">
  <p:tag name="KSO_WM_DIAGRAM_VIRTUALLY_FRAME" val="{&quot;height&quot;:240,&quot;left&quot;:60,&quot;top&quot;:150,&quot;width&quot;:840}"/>
</p:tagLst>
</file>

<file path=ppt/tags/tag17.xml><?xml version="1.0" encoding="utf-8"?>
<p:tagLst xmlns:p="http://schemas.openxmlformats.org/presentationml/2006/main">
  <p:tag name="KSO_WM_DIAGRAM_VIRTUALLY_FRAME" val="{&quot;height&quot;:240,&quot;left&quot;:60,&quot;top&quot;:150,&quot;width&quot;:840}"/>
</p:tagLst>
</file>

<file path=ppt/tags/tag18.xml><?xml version="1.0" encoding="utf-8"?>
<p:tagLst xmlns:p="http://schemas.openxmlformats.org/presentationml/2006/main">
  <p:tag name="KSO_WM_DIAGRAM_VIRTUALLY_FRAME" val="{&quot;height&quot;:110,&quot;left&quot;:60,&quot;top&quot;:100,&quot;width&quot;:838}"/>
</p:tagLst>
</file>

<file path=ppt/tags/tag19.xml><?xml version="1.0" encoding="utf-8"?>
<p:tagLst xmlns:p="http://schemas.openxmlformats.org/presentationml/2006/main">
  <p:tag name="KSO_WM_DIAGRAM_VIRTUALLY_FRAME" val="{&quot;height&quot;:240,&quot;left&quot;:60,&quot;top&quot;:15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473</Words>
  <Application>WPS 演示</Application>
  <PresentationFormat/>
  <Paragraphs>46</Paragraphs>
  <Slides>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vt:i4>
      </vt:variant>
    </vt:vector>
  </HeadingPairs>
  <TitlesOfParts>
    <vt:vector size="15" baseType="lpstr">
      <vt:lpstr>Arial</vt:lpstr>
      <vt:lpstr>宋体</vt:lpstr>
      <vt:lpstr>Wingdings</vt:lpstr>
      <vt:lpstr>Arial</vt:lpstr>
      <vt:lpstr>Noto Sans SC</vt:lpstr>
      <vt:lpstr>Poppins</vt:lpstr>
      <vt:lpstr>ksdb</vt:lpstr>
      <vt:lpstr>微软雅黑</vt:lpstr>
      <vt:lpstr>Arial Unicode MS</vt:lpstr>
      <vt:lpstr>Office 主题​​</vt:lpstr>
      <vt:lpstr>默认主题</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爱喝cola的小兔叽</cp:lastModifiedBy>
  <cp:revision>7</cp:revision>
  <dcterms:created xsi:type="dcterms:W3CDTF">2026-03-26T10:41:00Z</dcterms:created>
  <dcterms:modified xsi:type="dcterms:W3CDTF">2026-04-01T13:01:32Z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16A678CA12384A269AD7E52DE46DF351_12</vt:lpwstr>
  </property>
  <property fmtid="{D5CDD505-2E9C-101B-9397-08002B2CF9AE}" pid="3" name="KSOProductBuildVer">
    <vt:lpwstr>2052-12.1.0.25225</vt:lpwstr>
  </property>
</Properties>
</file>